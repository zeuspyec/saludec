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vitaprevent-b2e34.web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1097280"/>
            <a:ext cx="5943600" cy="59436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41148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572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🏥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228600" y="2423160"/>
            <a:ext cx="3931920" cy="34747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423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ISWD732 — Usabilidad y Accesibilidad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658368" cy="658368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26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2926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Costa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78992" y="32369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· Evaluador WCAG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4005072"/>
            <a:ext cx="658368" cy="658368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0050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0050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Tipán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78992" y="4315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 UI · Frontend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5084064"/>
            <a:ext cx="658368" cy="658368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0840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50840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Quilumba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78992" y="5394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· Redactor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6309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Politécnica Nacional · GR3SW · Julio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10972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7132320" y="10972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4663440" y="22402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Servicios Públicos de Salud del Ecuador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663440" y="2971800"/>
            <a:ext cx="66751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127248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académico desarrollado en la EPN para la asignatura Usabilidad y Accesibilidad. Portal web WCAG 2.2 Nivel AA con información oficial del MSP, IESS, ECU 911 y OPS Ecuador.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663440" y="429768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A2E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3159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663440" y="477316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19088" y="429768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A2E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43159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419088" y="477316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74736" y="429768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A2E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74736" y="43159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174736" y="477316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930384" y="429768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A2E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30384" y="43159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930384" y="477316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errors</a:t>
            </a:r>
            <a:endParaRPr lang="en-US" sz="950" dirty="0"/>
          </a:p>
        </p:txBody>
      </p:sp>
      <p:sp>
        <p:nvSpPr>
          <p:cNvPr id="39" name="Text 37">
            <a:hlinkClick r:id="rId1" tooltip=""/>
          </p:cNvPr>
          <p:cNvSpPr/>
          <p:nvPr/>
        </p:nvSpPr>
        <p:spPr>
          <a:xfrm>
            <a:off x="4663440" y="557784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vitaprevent-b2e34.web.app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SALUDEC?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1A2E42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2588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oficial del MSP, IESS y ECU 911 está dispersa en múltiples portales sin cohesión.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1A2E42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1343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25880" y="2331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gubernamentales poco optimizados para móvil — el 74% del tráfico en Ecuador es móvil.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1A2E42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4787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♿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25880" y="3566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Barreras de accesibilidad que excluyen a personas con discapacidad, adultos mayores y usuarios rurales.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70916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1A2E42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78231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un punto único de acceso a todos los servicios públicos de salud en un solo portal accesible.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914400"/>
            <a:ext cx="5303520" cy="5669280"/>
          </a:xfrm>
          <a:prstGeom prst="roundRect">
            <a:avLst>
              <a:gd name="adj" fmla="val 2414"/>
            </a:avLst>
          </a:prstGeom>
          <a:solidFill>
            <a:srgbClr val="1A2E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005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Ecuador 2024–2026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92240" y="1554480"/>
            <a:ext cx="16459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3.279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1883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establecimientos de salud pública (MSP 2023)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2450592"/>
            <a:ext cx="16459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468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27797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vacunación infantil nacional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3346704"/>
            <a:ext cx="16459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3649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66560" y="3675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externas en el IESS (2024)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4242816"/>
            <a:ext cx="16459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42611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4.4M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6656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al ECU 911 atendidas (2023)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5138928"/>
            <a:ext cx="16459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51572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766560" y="5468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tráfico web en Ecuador desde móvil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DEL PROYECTO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· Visión · Objetivo General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565C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1645920" cy="1600200"/>
          </a:xfrm>
          <a:prstGeom prst="roundRect">
            <a:avLst>
              <a:gd name="adj" fmla="val 685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051560"/>
            <a:ext cx="91440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y comunicar de forma accesible la información oficial sobre los servicios públicos de salud del Ecuador — MSP, IESS y ECU 911 — para que cualquier ciudadano, independientemente de su capacidad o dispositivo, pueda conocer y ejercer su derecho a la salud.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43200"/>
            <a:ext cx="1645920" cy="1600200"/>
          </a:xfrm>
          <a:prstGeom prst="roundRect">
            <a:avLst>
              <a:gd name="adj" fmla="val 6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43200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2834640"/>
            <a:ext cx="91440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el portal de referencia en servicios públicos de salud del Ecuador, reconocido por la fiabilidad de sus fuentes oficiales, su plena conformidad con WCAG 2.2 Nivel AA y su compromiso con la equidad digital para todos los ciudadanos ecuatorianos.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52628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0A2A0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526280"/>
            <a:ext cx="1645920" cy="1600200"/>
          </a:xfrm>
          <a:prstGeom prst="roundRect">
            <a:avLst>
              <a:gd name="adj" fmla="val 6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526280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4617720"/>
            <a:ext cx="91440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implementar y evaluar un portal web accesible (WCAG 2.2 AA) que centralice información oficial de salud pública del Ecuador, aplicando los principios de usabilidad y accesibilidad web aprendidos en la asignatura ISWD732 de la Escuela Politécnica Nacional.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5486400" cy="1572768"/>
          </a:xfrm>
          <a:prstGeom prst="roundRect">
            <a:avLst>
              <a:gd name="adj" fmla="val 6977"/>
            </a:avLst>
          </a:prstGeom>
          <a:solidFill>
            <a:srgbClr val="1A2E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1417320" cy="1572768"/>
          </a:xfrm>
          <a:prstGeom prst="roundRect">
            <a:avLst>
              <a:gd name="adj" fmla="val 774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14173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1069848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accesible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74520" y="1399032"/>
            <a:ext cx="38587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una SPA en React 19 + Vite 6 con rutas semánticas, lazy loading, focus management y skip-links que garanticen navegación por teclado y lectores de pantalla.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5486400" cy="1572768"/>
          </a:xfrm>
          <a:prstGeom prst="roundRect">
            <a:avLst>
              <a:gd name="adj" fmla="val 6977"/>
            </a:avLst>
          </a:prstGeom>
          <a:solidFill>
            <a:srgbClr val="1A2E42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60120"/>
            <a:ext cx="1417320" cy="1572768"/>
          </a:xfrm>
          <a:prstGeom prst="roundRect">
            <a:avLst>
              <a:gd name="adj" fmla="val 774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960120"/>
            <a:ext cx="14173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43800" y="1069848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oficial verificado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1399032"/>
            <a:ext cx="38587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información oficial del MSP, IESS, ECU 911 y OPS en módulos temáticos (Atención Primaria, Vacunación, Salud Mental, Emergencias, Nutrición, Actividad Física).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79192"/>
            <a:ext cx="5486400" cy="1572768"/>
          </a:xfrm>
          <a:prstGeom prst="roundRect">
            <a:avLst>
              <a:gd name="adj" fmla="val 6977"/>
            </a:avLst>
          </a:prstGeom>
          <a:solidFill>
            <a:srgbClr val="1A2E42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79192"/>
            <a:ext cx="1417320" cy="1572768"/>
          </a:xfrm>
          <a:prstGeom prst="roundRect">
            <a:avLst>
              <a:gd name="adj" fmla="val 774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79192"/>
            <a:ext cx="14173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74520" y="2788920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 WCAG 2.2 AA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74520" y="3118104"/>
            <a:ext cx="38587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Alcanzar conformidad sustancial con los 4 principios POUR (Perceptible, Operable, Comprensible, Robusto) y validar con axe DevTools, Lighthouse, WAVE y Pa11y.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2679192"/>
            <a:ext cx="5486400" cy="1572768"/>
          </a:xfrm>
          <a:prstGeom prst="roundRect">
            <a:avLst>
              <a:gd name="adj" fmla="val 6977"/>
            </a:avLst>
          </a:prstGeom>
          <a:solidFill>
            <a:srgbClr val="1A2E42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679192"/>
            <a:ext cx="1417320" cy="1572768"/>
          </a:xfrm>
          <a:prstGeom prst="roundRect">
            <a:avLst>
              <a:gd name="adj" fmla="val 7742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2679192"/>
            <a:ext cx="14173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2788920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Firebase en tiempo real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3118104"/>
            <a:ext cx="38587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Firebase Firestore para gestión de artículos, noticias y recursos; Firebase Auth para panel administrativo; Firebase Hosting para despliegue continuo.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398264"/>
            <a:ext cx="5486400" cy="1572768"/>
          </a:xfrm>
          <a:prstGeom prst="roundRect">
            <a:avLst>
              <a:gd name="adj" fmla="val 6977"/>
            </a:avLst>
          </a:prstGeom>
          <a:solidFill>
            <a:srgbClr val="1A2E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398264"/>
            <a:ext cx="1417320" cy="1572768"/>
          </a:xfrm>
          <a:prstGeom prst="roundRect">
            <a:avLst>
              <a:gd name="adj" fmla="val 774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98264"/>
            <a:ext cx="14173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74520" y="4507992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responsive desde 320px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74520" y="4837176"/>
            <a:ext cx="38587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funcionalidad completa en dispositivos móviles (320px–1440px+) con CSS Custom Properties, diseño token-based y compatibilidad con modo oscuro del sistema.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4398264"/>
            <a:ext cx="5486400" cy="1572768"/>
          </a:xfrm>
          <a:prstGeom prst="roundRect">
            <a:avLst>
              <a:gd name="adj" fmla="val 6977"/>
            </a:avLst>
          </a:prstGeom>
          <a:solidFill>
            <a:srgbClr val="1A2E4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398264"/>
            <a:ext cx="1417320" cy="1572768"/>
          </a:xfrm>
          <a:prstGeom prst="roundRect">
            <a:avLst>
              <a:gd name="adj" fmla="val 774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4398264"/>
            <a:ext cx="14173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543800" y="4507992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completa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43800" y="4837176"/>
            <a:ext cx="38587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informe técnico, declaración de accesibilidad, metodología XP, evidencias POUR y arquitectura del sistema en documentos LaTeX compilados en PDF.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 Desarrollo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92608" y="960120"/>
            <a:ext cx="3749040" cy="5669280"/>
          </a:xfrm>
          <a:prstGeom prst="roundRect">
            <a:avLst>
              <a:gd name="adj" fmla="val 3659"/>
            </a:avLst>
          </a:prstGeom>
          <a:solidFill>
            <a:srgbClr val="0A2235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960120"/>
            <a:ext cx="3749040" cy="1874520"/>
          </a:xfrm>
          <a:prstGeom prst="roundRect">
            <a:avLst>
              <a:gd name="adj" fmla="val 731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7048" y="1051560"/>
            <a:ext cx="1280160" cy="12801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7048" y="10515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4048" y="2423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Costa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del Proyecto · Evaluador de Accesibilidad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github: zeuspyEC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Gestión de la arquitectura Firebase (Firestore, Auth, Hosting)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059936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Evaluación de conformidad WCAG 2.2 AA con herramientas automáticas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553712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Implementación de focus management, skip-links y ARIA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5047488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Configuración CI/CD con GitHub Actions y Firebase deploy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554126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Redacción de la declaración de accesibilidad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35024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35024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12848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12848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AA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090672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axe/Pa11y/WAVE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97096" y="960120"/>
            <a:ext cx="3749040" cy="5669280"/>
          </a:xfrm>
          <a:prstGeom prst="roundRect">
            <a:avLst>
              <a:gd name="adj" fmla="val 3659"/>
            </a:avLst>
          </a:prstGeom>
          <a:solidFill>
            <a:srgbClr val="0A1E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97096" y="960120"/>
            <a:ext cx="3749040" cy="1874520"/>
          </a:xfrm>
          <a:prstGeom prst="roundRect">
            <a:avLst>
              <a:gd name="adj" fmla="val 731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31536" y="1051560"/>
            <a:ext cx="1280160" cy="12801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31536" y="10515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288536" y="2423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Tipán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88536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 UI/UX · Desarrollador Frontend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88536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github: michaelTipan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61688" y="356616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Sistema de diseño "Ocean Breeze" con CSS Custom Properties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61688" y="4059936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Componentes accesibles: Navbar, Footer, Breadcrumb, Modal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61688" y="4553712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Diseño responsive desde 320px con CSS Grid y Flexbox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61688" y="5047488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Implementación de tokens de color con contraste WCAG AA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61688" y="554126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Dark mode y animaciones respetando prefers-reduced-motion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61688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61688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Tokens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239512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9512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WAI-ARIA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117336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17336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UX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995160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95160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101584" y="960120"/>
            <a:ext cx="3749040" cy="5669280"/>
          </a:xfrm>
          <a:prstGeom prst="roundRect">
            <a:avLst>
              <a:gd name="adj" fmla="val 3659"/>
            </a:avLst>
          </a:prstGeom>
          <a:solidFill>
            <a:srgbClr val="0F0A2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01584" y="960120"/>
            <a:ext cx="3749040" cy="1874520"/>
          </a:xfrm>
          <a:prstGeom prst="roundRect">
            <a:avLst>
              <a:gd name="adj" fmla="val 731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36024" y="1051560"/>
            <a:ext cx="1280160" cy="12801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36024" y="10515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8193024" y="2423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Quilumba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193024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Frontend · Redactor del Informe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193024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github: Javier Q.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266176" y="356616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Implementación de servicios Firestore (artículos, noticias, recursos)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66176" y="4059936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Panel administrativo con CRUD completo y autenticación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266176" y="4553712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Módulos de contenido (Nutrición, Salud Mental, Prevención)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266176" y="5047488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Redacción del informe técnico en LaTeX y metodología XP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266176" y="554126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Formulario de contacto con validación y notificaciones admin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266176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66176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144000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0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021824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21824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899648" y="608076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899648" y="60807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XP (Extreme Programming)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A2E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10835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adoptó eXtreme Programming (XP) por su énfasis en ciclos cortos de entrega, retroalimentación continua y calidad técnica. Las 27 Historias de Usuario se organizaron en 2 Sprints con criterios de aceptación medibles vinculados directamente a criterios WCAG 2.2.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3749040" cy="4681728"/>
          </a:xfrm>
          <a:prstGeom prst="roundRect">
            <a:avLst>
              <a:gd name="adj" fmla="val 2927"/>
            </a:avLst>
          </a:prstGeom>
          <a:solidFill>
            <a:srgbClr val="1A2E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933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Sprint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Mayo–Junio 2026  ·  32 pts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0358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HU-01 al HU-22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6027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páginas públicas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1696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Navbar, Footer, Breadcrumb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365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Firebase integrado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5303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Panel admin CRUD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8704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Sistema de diseño Ocean Breeze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70248" y="1965960"/>
            <a:ext cx="3749040" cy="4681728"/>
          </a:xfrm>
          <a:prstGeom prst="roundRect">
            <a:avLst>
              <a:gd name="adj" fmla="val 2927"/>
            </a:avLst>
          </a:prstGeom>
          <a:solidFill>
            <a:srgbClr val="1A2E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0248" y="196596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1688" y="19933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Sprint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61688" y="23957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  ·  22 pts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07408" y="30358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HU-23 al HU-27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07408" y="36027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Video accesible + subtítulos VTT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07408" y="41696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Contraste WCAG 1.4.3 (7 correcciones)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07408" y="47365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Declaración de accesibilidad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07408" y="5303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Focus management corregido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07408" y="58704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Pa11y 0 errores reales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74736" y="1965960"/>
            <a:ext cx="3749040" cy="4681728"/>
          </a:xfrm>
          <a:prstGeom prst="roundRect">
            <a:avLst>
              <a:gd name="adj" fmla="val 2927"/>
            </a:avLst>
          </a:prstGeom>
          <a:solidFill>
            <a:srgbClr val="1A2E42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4736" y="196596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66176" y="19933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Sprint 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66176" y="23957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  ·  En curso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11896" y="30358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ARIA 4.1.2 corregido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11896" y="36027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CLS optimizado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11896" y="41696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Seguridad HTTP headers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11896" y="47365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Alternativa cubo WCAG 2.5.7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11896" y="5303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Redirect 301 /biblioteca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11896" y="58704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sitemap.xml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6492240"/>
            <a:ext cx="2084832" cy="475488"/>
          </a:xfrm>
          <a:prstGeom prst="roundRect">
            <a:avLst>
              <a:gd name="adj" fmla="val 50000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6492240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Iteraciones cortas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96896" y="6492240"/>
            <a:ext cx="2084832" cy="475488"/>
          </a:xfrm>
          <a:prstGeom prst="roundRect">
            <a:avLst>
              <a:gd name="adj" fmla="val 50000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96896" y="6492240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TDD implícito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28032" y="6492240"/>
            <a:ext cx="2084832" cy="475488"/>
          </a:xfrm>
          <a:prstGeom prst="roundRect">
            <a:avLst>
              <a:gd name="adj" fmla="val 50000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6492240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Comunicación continua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59168" y="6492240"/>
            <a:ext cx="2084832" cy="475488"/>
          </a:xfrm>
          <a:prstGeom prst="roundRect">
            <a:avLst>
              <a:gd name="adj" fmla="val 50000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59168" y="6492240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Revisión de código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290304" y="6492240"/>
            <a:ext cx="2084832" cy="475488"/>
          </a:xfrm>
          <a:prstGeom prst="roundRect">
            <a:avLst>
              <a:gd name="adj" fmla="val 50000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90304" y="6492240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Integración continua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Stack Tecnológico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11247120" cy="1261872"/>
          </a:xfrm>
          <a:prstGeom prst="roundRect">
            <a:avLst>
              <a:gd name="adj" fmla="val 7246"/>
            </a:avLst>
          </a:prstGeom>
          <a:solidFill>
            <a:srgbClr val="1A2E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2011680" cy="1261872"/>
          </a:xfrm>
          <a:prstGeom prst="roundRect">
            <a:avLst>
              <a:gd name="adj" fmla="val 724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05840"/>
            <a:ext cx="20116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261872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19 · Vite 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261872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 Custom Properties (tokens)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0" y="1261872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Router v6 · lazy loading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89720" y="1261872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Suspense + Skeleton loaders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188720"/>
            <a:ext cx="0" cy="868680"/>
          </a:xfrm>
          <a:prstGeom prst="line">
            <a:avLst/>
          </a:prstGeom>
          <a:noFill/>
          <a:ln w="6350">
            <a:solidFill>
              <a:srgbClr val="0891B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858000" y="1188720"/>
            <a:ext cx="0" cy="868680"/>
          </a:xfrm>
          <a:prstGeom prst="line">
            <a:avLst/>
          </a:prstGeom>
          <a:noFill/>
          <a:ln w="6350">
            <a:solidFill>
              <a:srgbClr val="0891B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098280" y="1188720"/>
            <a:ext cx="0" cy="868680"/>
          </a:xfrm>
          <a:prstGeom prst="line">
            <a:avLst/>
          </a:prstGeom>
          <a:noFill/>
          <a:ln w="6350">
            <a:solidFill>
              <a:srgbClr val="0891B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040" y="2395728"/>
            <a:ext cx="11247120" cy="1261872"/>
          </a:xfrm>
          <a:prstGeom prst="roundRect">
            <a:avLst>
              <a:gd name="adj" fmla="val 7246"/>
            </a:avLst>
          </a:prstGeom>
          <a:solidFill>
            <a:srgbClr val="1A2E42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95728"/>
            <a:ext cx="2011680" cy="1261872"/>
          </a:xfrm>
          <a:prstGeom prst="roundRect">
            <a:avLst>
              <a:gd name="adj" fmla="val 724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95728"/>
            <a:ext cx="20116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2651760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PageWrapper (focus mgmt)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2651760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Navbar · Footer · Breadcrumb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49440" y="2651760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ArticleCard · NewsCard · Modal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89720" y="2651760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SkipLink · Toast · ErrorBoundary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2578608"/>
            <a:ext cx="0" cy="868680"/>
          </a:xfrm>
          <a:prstGeom prst="line">
            <a:avLst/>
          </a:prstGeom>
          <a:noFill/>
          <a:ln w="6350">
            <a:solidFill>
              <a:srgbClr val="1565C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858000" y="2578608"/>
            <a:ext cx="0" cy="868680"/>
          </a:xfrm>
          <a:prstGeom prst="line">
            <a:avLst/>
          </a:prstGeom>
          <a:noFill/>
          <a:ln w="6350">
            <a:solidFill>
              <a:srgbClr val="1565C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098280" y="2578608"/>
            <a:ext cx="0" cy="868680"/>
          </a:xfrm>
          <a:prstGeom prst="line">
            <a:avLst/>
          </a:prstGeom>
          <a:noFill/>
          <a:ln w="6350">
            <a:solidFill>
              <a:srgbClr val="1565C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20040" y="3785616"/>
            <a:ext cx="11247120" cy="1261872"/>
          </a:xfrm>
          <a:prstGeom prst="roundRect">
            <a:avLst>
              <a:gd name="adj" fmla="val 7246"/>
            </a:avLst>
          </a:prstGeom>
          <a:solidFill>
            <a:srgbClr val="1A2E42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785616"/>
            <a:ext cx="2011680" cy="1261872"/>
          </a:xfrm>
          <a:prstGeom prst="roundRect">
            <a:avLst>
              <a:gd name="adj" fmla="val 724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85616"/>
            <a:ext cx="20116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4041648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articulos.service.js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9160" y="4041648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noticias.service.js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49440" y="4041648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cleanup.service.js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89720" y="4041648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seed.service.js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3968496"/>
            <a:ext cx="0" cy="868680"/>
          </a:xfrm>
          <a:prstGeom prst="line">
            <a:avLst/>
          </a:prstGeom>
          <a:noFill/>
          <a:ln w="6350">
            <a:solidFill>
              <a:srgbClr val="7C3AED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858000" y="3968496"/>
            <a:ext cx="0" cy="868680"/>
          </a:xfrm>
          <a:prstGeom prst="line">
            <a:avLst/>
          </a:prstGeom>
          <a:noFill/>
          <a:ln w="6350">
            <a:solidFill>
              <a:srgbClr val="7C3AED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9098280" y="3968496"/>
            <a:ext cx="0" cy="868680"/>
          </a:xfrm>
          <a:prstGeom prst="line">
            <a:avLst/>
          </a:prstGeom>
          <a:noFill/>
          <a:ln w="6350">
            <a:solidFill>
              <a:srgbClr val="7C3AED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20040" y="5175504"/>
            <a:ext cx="11247120" cy="1261872"/>
          </a:xfrm>
          <a:prstGeom prst="roundRect">
            <a:avLst>
              <a:gd name="adj" fmla="val 7246"/>
            </a:avLst>
          </a:prstGeom>
          <a:solidFill>
            <a:srgbClr val="1A2E42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5175504"/>
            <a:ext cx="2011680" cy="1261872"/>
          </a:xfrm>
          <a:prstGeom prst="roundRect">
            <a:avLst>
              <a:gd name="adj" fmla="val 724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5175504"/>
            <a:ext cx="20116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NUBE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5431536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Firebase Firestore (NoSQL)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09160" y="5431536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Firebase Authentication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49440" y="5431536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Firebase Hosting (CDN)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189720" y="5431536"/>
            <a:ext cx="2176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Security Rules + índices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17720" y="5358384"/>
            <a:ext cx="0" cy="868680"/>
          </a:xfrm>
          <a:prstGeom prst="line">
            <a:avLst/>
          </a:prstGeom>
          <a:noFill/>
          <a:ln w="6350">
            <a:solidFill>
              <a:srgbClr val="EA580C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858000" y="5358384"/>
            <a:ext cx="0" cy="868680"/>
          </a:xfrm>
          <a:prstGeom prst="line">
            <a:avLst/>
          </a:prstGeom>
          <a:noFill/>
          <a:ln w="6350">
            <a:solidFill>
              <a:srgbClr val="EA580C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9098280" y="5358384"/>
            <a:ext cx="0" cy="868680"/>
          </a:xfrm>
          <a:prstGeom prst="line">
            <a:avLst/>
          </a:prstGeom>
          <a:noFill/>
          <a:ln w="6350">
            <a:solidFill>
              <a:srgbClr val="EA580C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6035040" y="1005840"/>
            <a:ext cx="0" cy="5486400"/>
          </a:xfrm>
          <a:prstGeom prst="line">
            <a:avLst/>
          </a:prstGeom>
          <a:noFill/>
          <a:ln w="6350">
            <a:solidFill>
              <a:srgbClr val="0891B2"/>
            </a:solidFill>
            <a:prstDash val="sysDot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Rutas del Sitio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2761488" cy="1417320"/>
          </a:xfrm>
          <a:prstGeom prst="roundRect">
            <a:avLst>
              <a:gd name="adj" fmla="val 7742"/>
            </a:avLst>
          </a:prstGeom>
          <a:solidFill>
            <a:srgbClr val="1A2E42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0789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24712" y="109728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24712" y="148132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2084832"/>
            <a:ext cx="276148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396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requerida  ·  admin/*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55264" y="1005840"/>
            <a:ext cx="2761488" cy="1417320"/>
          </a:xfrm>
          <a:prstGeom prst="roundRect">
            <a:avLst>
              <a:gd name="adj" fmla="val 7742"/>
            </a:avLst>
          </a:prstGeom>
          <a:solidFill>
            <a:srgbClr val="1A2E42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0789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032504" y="109728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32504" y="148132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/nosotros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55264" y="2084832"/>
            <a:ext cx="2761488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21396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requerida  ·  admin/*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63056" y="1005840"/>
            <a:ext cx="2761488" cy="1417320"/>
          </a:xfrm>
          <a:prstGeom prst="roundRect">
            <a:avLst>
              <a:gd name="adj" fmla="val 7742"/>
            </a:avLst>
          </a:prstGeom>
          <a:solidFill>
            <a:srgbClr val="1A2E42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0789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40296" y="109728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Primaria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40296" y="148132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/atencion-primaria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63056" y="2084832"/>
            <a:ext cx="276148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21396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requerida  ·  admin/*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070848" y="1005840"/>
            <a:ext cx="2761488" cy="1417320"/>
          </a:xfrm>
          <a:prstGeom prst="roundRect">
            <a:avLst>
              <a:gd name="adj" fmla="val 7742"/>
            </a:avLst>
          </a:prstGeom>
          <a:solidFill>
            <a:srgbClr val="1A2E4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10789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48088" y="109728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Mental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48088" y="148132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/salud-mental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070848" y="2084832"/>
            <a:ext cx="276148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62288" y="21396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requerida  ·  admin/*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47472" y="2578608"/>
            <a:ext cx="2761488" cy="1417320"/>
          </a:xfrm>
          <a:prstGeom prst="roundRect">
            <a:avLst>
              <a:gd name="adj" fmla="val 7742"/>
            </a:avLst>
          </a:prstGeom>
          <a:solidFill>
            <a:srgbClr val="1A2E42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124712" y="2670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24712" y="305409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/nutricion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7472" y="3657600"/>
            <a:ext cx="2761488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7124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requerida  ·  admin/*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55264" y="2578608"/>
            <a:ext cx="2761488" cy="1417320"/>
          </a:xfrm>
          <a:prstGeom prst="roundRect">
            <a:avLst>
              <a:gd name="adj" fmla="val 7742"/>
            </a:avLst>
          </a:prstGeom>
          <a:solidFill>
            <a:srgbClr val="1A2E42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28416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🏃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032504" y="2670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Física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032504" y="305409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/actividad-fisica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55264" y="3657600"/>
            <a:ext cx="2761488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46704" y="37124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requerida  ·  admin/*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163056" y="2578608"/>
            <a:ext cx="2761488" cy="1417320"/>
          </a:xfrm>
          <a:prstGeom prst="roundRect">
            <a:avLst>
              <a:gd name="adj" fmla="val 7742"/>
            </a:avLst>
          </a:prstGeom>
          <a:solidFill>
            <a:srgbClr val="1A2E42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940296" y="2670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940296" y="305409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/prevencion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63056" y="3657600"/>
            <a:ext cx="276148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37124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requerida  ·  admin/*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070848" y="2578608"/>
            <a:ext cx="2761488" cy="1417320"/>
          </a:xfrm>
          <a:prstGeom prst="roundRect">
            <a:avLst>
              <a:gd name="adj" fmla="val 7742"/>
            </a:avLst>
          </a:prstGeom>
          <a:solidFill>
            <a:srgbClr val="1A2E42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0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9848088" y="2670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848088" y="305409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/noticias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070848" y="3657600"/>
            <a:ext cx="276148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62288" y="37124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requerida  ·  admin/*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47472" y="4151376"/>
            <a:ext cx="2761488" cy="1417320"/>
          </a:xfrm>
          <a:prstGeom prst="roundRect">
            <a:avLst>
              <a:gd name="adj" fmla="val 7742"/>
            </a:avLst>
          </a:prstGeom>
          <a:solidFill>
            <a:srgbClr val="1A2E42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" y="42245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1124712" y="424281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124712" y="462686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/recursos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47472" y="5230368"/>
            <a:ext cx="2761488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8912" y="52852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requerida  ·  admin/*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255264" y="4151376"/>
            <a:ext cx="2761488" cy="1417320"/>
          </a:xfrm>
          <a:prstGeom prst="roundRect">
            <a:avLst>
              <a:gd name="adj" fmla="val 7742"/>
            </a:avLst>
          </a:prstGeom>
          <a:solidFill>
            <a:srgbClr val="1A2E42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28416" y="42245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✉️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4032504" y="424281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4032504" y="462686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/contacto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55264" y="5230368"/>
            <a:ext cx="276148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46704" y="52852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requerida  ·  admin/*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163056" y="4151376"/>
            <a:ext cx="2761488" cy="1417320"/>
          </a:xfrm>
          <a:prstGeom prst="roundRect">
            <a:avLst>
              <a:gd name="adj" fmla="val 7742"/>
            </a:avLst>
          </a:prstGeom>
          <a:solidFill>
            <a:srgbClr val="1A2E42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36208" y="42245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6940296" y="424281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6940296" y="462686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/accesibilidad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63056" y="5230368"/>
            <a:ext cx="276148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54496" y="52852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requerida  ·  admin/*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47472" y="5870448"/>
            <a:ext cx="11192256" cy="658368"/>
          </a:xfrm>
          <a:prstGeom prst="roundRect">
            <a:avLst>
              <a:gd name="adj" fmla="val 13889"/>
            </a:avLst>
          </a:prstGeom>
          <a:solidFill>
            <a:srgbClr val="1A0A0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587044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Rutas Admin (autenticadas):  /admin/dashboard  ·  /admin/articulos  ·  /admin/noticias  ·  /admin/recursos  ·  /admin/mensajes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DEL SITIO · 1/4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Inicio — Hero + Noticias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897880" cy="4572000"/>
          </a:xfrm>
          <a:prstGeom prst="roundRect">
            <a:avLst>
              <a:gd name="adj" fmla="val 2000"/>
            </a:avLst>
          </a:prstGeom>
          <a:solidFill>
            <a:srgbClr val="1A2E42"/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8" name="Image 0" descr="/home/zeus/.claude/image-cache/91743e22-fece-4a2d-9878-1c37f677d6c7/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5806440" cy="448056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5080" y="960120"/>
            <a:ext cx="5559552" cy="4572000"/>
          </a:xfrm>
          <a:prstGeom prst="roundRect">
            <a:avLst>
              <a:gd name="adj" fmla="val 2000"/>
            </a:avLst>
          </a:prstGeom>
          <a:solidFill>
            <a:srgbClr val="1A2E42"/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10" name="Image 1" descr="/home/zeus/.claude/image-cache/91743e22-fece-4a2d-9878-1c37f677d6c7/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468112" cy="4480560"/>
          </a:xfrm>
          <a:prstGeom prst="ellipse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" y="5623560"/>
            <a:ext cx="5897880" cy="960120"/>
          </a:xfrm>
          <a:prstGeom prst="roundRect">
            <a:avLst>
              <a:gd name="adj" fmla="val 9524"/>
            </a:avLst>
          </a:prstGeom>
          <a:solidFill>
            <a:srgbClr val="1A2E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5678424"/>
            <a:ext cx="5715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Hero "Tu salud, un derecho garantizado" · Cubo 3D navegable con módulos de salud · SkipLink visible al recibir foco · Fuentes MSP · OPS · IESS · WCAG 2.2 AA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355080" y="5623560"/>
            <a:ext cx="5559552" cy="960120"/>
          </a:xfrm>
          <a:prstGeom prst="roundRect">
            <a:avLst>
              <a:gd name="adj" fmla="val 9524"/>
            </a:avLst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5678424"/>
            <a:ext cx="53766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Feed de noticias en tiempo real · 18 noticias publicadas · Cards con imagen Unsplash, fecha y extracto · Lazy loading con skeleton · Paginación "Cargar más"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DEL SITIO · 2/4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+ Calculadora IMC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897880" cy="4572000"/>
          </a:xfrm>
          <a:prstGeom prst="roundRect">
            <a:avLst>
              <a:gd name="adj" fmla="val 2000"/>
            </a:avLst>
          </a:prstGeom>
          <a:solidFill>
            <a:srgbClr val="1A2E42"/>
          </a:solidFill>
          <a:ln w="19050">
            <a:solidFill>
              <a:srgbClr val="16A34A"/>
            </a:solidFill>
            <a:prstDash val="solid"/>
          </a:ln>
        </p:spPr>
      </p:sp>
      <p:pic>
        <p:nvPicPr>
          <p:cNvPr id="8" name="Image 0" descr="/home/zeus/.claude/image-cache/91743e22-fece-4a2d-9878-1c37f677d6c7/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5806440" cy="448056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5080" y="960120"/>
            <a:ext cx="5559552" cy="4572000"/>
          </a:xfrm>
          <a:prstGeom prst="roundRect">
            <a:avLst>
              <a:gd name="adj" fmla="val 2000"/>
            </a:avLst>
          </a:prstGeom>
          <a:solidFill>
            <a:srgbClr val="1A2E42"/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10" name="Image 1" descr="/home/zeus/.claude/image-cache/91743e22-fece-4a2d-9878-1c37f677d6c7/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468112" cy="4480560"/>
          </a:xfrm>
          <a:prstGeom prst="ellipse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" y="5623560"/>
            <a:ext cx="5897880" cy="960120"/>
          </a:xfrm>
          <a:prstGeom prst="roundRect">
            <a:avLst>
              <a:gd name="adj" fmla="val 9524"/>
            </a:avLst>
          </a:prstGeom>
          <a:solidFill>
            <a:srgbClr val="1A2E4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5678424"/>
            <a:ext cx="5715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Artículo "Superalimentos: qué dice la ciencia" · Imagen portada · Breadcrumb semántico · Tags (Nutrición · dietas) · Fecha · Contenido WYSIWYG con jerarquía H1→H3 accesible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355080" y="5623560"/>
            <a:ext cx="5559552" cy="960120"/>
          </a:xfrm>
          <a:prstGeom prst="roundRect">
            <a:avLst>
              <a:gd name="adj" fmla="val 9524"/>
            </a:avLst>
          </a:prstGeom>
          <a:solidFill>
            <a:srgbClr val="1A2E4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5678424"/>
            <a:ext cx="53766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Calculadora de IMC interactiva · Tabla de referencia OMS · Validación accesible · Labels visibles · Resultados anunciados con aria-live · Fuente: MSP Ecuador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DEL SITIO · 3/4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 — Dashboard + CRUD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897880" cy="4572000"/>
          </a:xfrm>
          <a:prstGeom prst="roundRect">
            <a:avLst>
              <a:gd name="adj" fmla="val 2000"/>
            </a:avLst>
          </a:prstGeom>
          <a:solidFill>
            <a:srgbClr val="1A2E42"/>
          </a:solidFill>
          <a:ln w="19050">
            <a:solidFill>
              <a:srgbClr val="EA580C"/>
            </a:solidFill>
            <a:prstDash val="solid"/>
          </a:ln>
        </p:spPr>
      </p:sp>
      <p:pic>
        <p:nvPicPr>
          <p:cNvPr id="8" name="Image 0" descr="/home/zeus/.claude/image-cache/91743e22-fece-4a2d-9878-1c37f677d6c7/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5806440" cy="448056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5080" y="960120"/>
            <a:ext cx="5559552" cy="4572000"/>
          </a:xfrm>
          <a:prstGeom prst="roundRect">
            <a:avLst>
              <a:gd name="adj" fmla="val 2000"/>
            </a:avLst>
          </a:prstGeom>
          <a:solidFill>
            <a:srgbClr val="1A2E42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0" name="Image 1" descr="/home/zeus/.claude/image-cache/91743e22-fece-4a2d-9878-1c37f677d6c7/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468112" cy="4480560"/>
          </a:xfrm>
          <a:prstGeom prst="ellipse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" y="5623560"/>
            <a:ext cx="5897880" cy="960120"/>
          </a:xfrm>
          <a:prstGeom prst="roundRect">
            <a:avLst>
              <a:gd name="adj" fmla="val 9524"/>
            </a:avLst>
          </a:prstGeom>
          <a:solidFill>
            <a:srgbClr val="1A2E4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5678424"/>
            <a:ext cx="5715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 en tiempo real · Firestore listeners · 51 artículos · 18 noticias · 30 recursos · Accesos rápidos a CRUD · Gestión de mensajes del formulario de contacto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355080" y="5623560"/>
            <a:ext cx="5559552" cy="960120"/>
          </a:xfrm>
          <a:prstGeom prst="roundRect">
            <a:avLst>
              <a:gd name="adj" fmla="val 9524"/>
            </a:avLst>
          </a:prstGeom>
          <a:solidFill>
            <a:srgbClr val="1A2E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5678424"/>
            <a:ext cx="53766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CRUD de artículos con editor · Categorías: Nutrición, Actividad Física, Salud Mental, Prevención · Slug automático · Estado Publicado/Borrador · Filtros por categoría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DEL SITIO · 4/4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 Detalle + Formulario de Contacto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897880" cy="4572000"/>
          </a:xfrm>
          <a:prstGeom prst="roundRect">
            <a:avLst>
              <a:gd name="adj" fmla="val 2000"/>
            </a:avLst>
          </a:prstGeom>
          <a:solidFill>
            <a:srgbClr val="1A2E42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8" name="Image 0" descr="/home/zeus/.claude/image-cache/91743e22-fece-4a2d-9878-1c37f677d6c7/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5806440" cy="448056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5080" y="960120"/>
            <a:ext cx="5559552" cy="4572000"/>
          </a:xfrm>
          <a:prstGeom prst="roundRect">
            <a:avLst>
              <a:gd name="adj" fmla="val 2000"/>
            </a:avLst>
          </a:prstGeom>
          <a:solidFill>
            <a:srgbClr val="1A2E42"/>
          </a:solidFill>
          <a:ln w="19050">
            <a:solidFill>
              <a:srgbClr val="16A34A"/>
            </a:solidFill>
            <a:prstDash val="solid"/>
          </a:ln>
        </p:spPr>
      </p:sp>
      <p:pic>
        <p:nvPicPr>
          <p:cNvPr id="10" name="Image 1" descr="/home/zeus/.claude/image-cache/91743e22-fece-4a2d-9878-1c37f677d6c7/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468112" cy="4480560"/>
          </a:xfrm>
          <a:prstGeom prst="ellipse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" y="5623560"/>
            <a:ext cx="5897880" cy="960120"/>
          </a:xfrm>
          <a:prstGeom prst="roundRect">
            <a:avLst>
              <a:gd name="adj" fmla="val 9524"/>
            </a:avLst>
          </a:prstGeom>
          <a:solidFill>
            <a:srgbClr val="1A2E4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5678424"/>
            <a:ext cx="5715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Detalle de noticia "IESS amplía acceso a salud mental" · Breadcrumb Inicio › Noticias › Artículo · Imagen portada · Fecha accesible con &lt;time&gt; · Contenido semántico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355080" y="5623560"/>
            <a:ext cx="5559552" cy="960120"/>
          </a:xfrm>
          <a:prstGeom prst="roundRect">
            <a:avLst>
              <a:gd name="adj" fmla="val 9524"/>
            </a:avLst>
          </a:prstGeom>
          <a:solidFill>
            <a:srgbClr val="1A2E4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5678424"/>
            <a:ext cx="53766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Formulario de contacto con validación WCAG 3.3.1 · Resumen de errores con role="alert" · Labels visibles · Campos con aria-describedby · Info de respuesta en sidebar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 — Principios Aplicados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1A2E42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17904" y="1097280"/>
            <a:ext cx="4315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del estado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17904" y="1481328"/>
            <a:ext cx="43159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en todas las páginas. aria-current="page" en NavLink activo. Skeleton loaders durante carga. Toast de confirmación en acciones críticas.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1A2E42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0488" y="1325880"/>
            <a:ext cx="914400" cy="9144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51192" y="1097280"/>
            <a:ext cx="4315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y estándares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51192" y="1481328"/>
            <a:ext cx="43159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diseño "Ocean Breeze" con design tokens. Mismos colores, tipografía (Inter + Merriweather) y espaciado en todas las páginas. Navbar y footer invariantes.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69748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1A2E4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1752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17904" y="2788920"/>
            <a:ext cx="4315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errores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17904" y="3172968"/>
            <a:ext cx="43159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tiempo real (onBlur) en formulario de contacto. Confirmación antes de eliminar en panel admin. Mensajes de error específicos por campo con aria-live.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269748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1A2E42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0488" y="3017520"/>
            <a:ext cx="914400" cy="9144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51192" y="2788920"/>
            <a:ext cx="4315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uso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51192" y="3172968"/>
            <a:ext cx="43159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SkipLink "Saltar al contenido principal". Focus management al navegar entre rutas. Lazy loading de páginas. Paginación con "Cargar más" sin recargar.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38912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1A2E42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709160"/>
            <a:ext cx="914400" cy="9144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09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17904" y="4480560"/>
            <a:ext cx="4315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estético minimalista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17904" y="4864608"/>
            <a:ext cx="43159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navy/teal con jerarquía visual clara. Espaciado con variables CSS. Contraste mínimo 4.5:1 en texto normal, 3:1 en texto grande (WCAG 1.4.3).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0760" y="438912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1A2E42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0488" y="4709160"/>
            <a:ext cx="914400" cy="9144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4709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🆘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251192" y="4480560"/>
            <a:ext cx="4315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y documentación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51192" y="4864608"/>
            <a:ext cx="43159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contacto en /contacto y enlace consistente en footer. Página /accesibilidad con declaración honesta de conformidad y limitaciones documentadas.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Nivel AA — Principios POUR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788920" cy="5577840"/>
          </a:xfrm>
          <a:prstGeom prst="roundRect">
            <a:avLst>
              <a:gd name="adj" fmla="val 4590"/>
            </a:avLst>
          </a:prstGeom>
          <a:solidFill>
            <a:srgbClr val="1A2E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2788920" cy="128016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05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0040" y="1755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914400"/>
            <a:ext cx="731520" cy="73152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231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1.1.1 alt text descriptivo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154680"/>
            <a:ext cx="2606040" cy="0"/>
          </a:xfrm>
          <a:prstGeom prst="line">
            <a:avLst/>
          </a:prstGeom>
          <a:noFill/>
          <a:ln w="6350">
            <a:solidFill>
              <a:srgbClr val="0891B2">
                <a:alpha val="50000"/>
              </a:srgbClr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411480" y="3227832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1.2.2 subtítulos VTT video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959352"/>
            <a:ext cx="2606040" cy="0"/>
          </a:xfrm>
          <a:prstGeom prst="line">
            <a:avLst/>
          </a:prstGeom>
          <a:noFill/>
          <a:ln w="6350">
            <a:solidFill>
              <a:srgbClr val="0891B2">
                <a:alpha val="50000"/>
              </a:srgbClr>
            </a:solidFill>
            <a:prstDash val="sysDot"/>
          </a:ln>
        </p:spPr>
      </p:sp>
      <p:sp>
        <p:nvSpPr>
          <p:cNvPr id="17" name="Text 15"/>
          <p:cNvSpPr/>
          <p:nvPr/>
        </p:nvSpPr>
        <p:spPr>
          <a:xfrm>
            <a:off x="411480" y="403250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1.3.1 HTML semántico H1→H3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764024"/>
            <a:ext cx="2606040" cy="0"/>
          </a:xfrm>
          <a:prstGeom prst="line">
            <a:avLst/>
          </a:prstGeom>
          <a:noFill/>
          <a:ln w="6350">
            <a:solidFill>
              <a:srgbClr val="0891B2">
                <a:alpha val="50000"/>
              </a:srgbClr>
            </a:solidFill>
            <a:prstDash val="sysDot"/>
          </a:ln>
        </p:spPr>
      </p:sp>
      <p:sp>
        <p:nvSpPr>
          <p:cNvPr id="19" name="Text 17"/>
          <p:cNvSpPr/>
          <p:nvPr/>
        </p:nvSpPr>
        <p:spPr>
          <a:xfrm>
            <a:off x="411480" y="4837176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1.4.3 contraste ≥4.5:1 (7 fixes)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5568696"/>
            <a:ext cx="2606040" cy="0"/>
          </a:xfrm>
          <a:prstGeom prst="line">
            <a:avLst/>
          </a:prstGeom>
          <a:noFill/>
          <a:ln w="6350">
            <a:solidFill>
              <a:srgbClr val="0891B2">
                <a:alpha val="50000"/>
              </a:srgbClr>
            </a:solidFill>
            <a:prstDash val="sysDot"/>
          </a:ln>
        </p:spPr>
      </p:sp>
      <p:sp>
        <p:nvSpPr>
          <p:cNvPr id="21" name="Text 19"/>
          <p:cNvSpPr/>
          <p:nvPr/>
        </p:nvSpPr>
        <p:spPr>
          <a:xfrm>
            <a:off x="411480" y="564184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1.4.10 responsive 320px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27832" y="1005840"/>
            <a:ext cx="2788920" cy="5577840"/>
          </a:xfrm>
          <a:prstGeom prst="roundRect">
            <a:avLst>
              <a:gd name="adj" fmla="val 4590"/>
            </a:avLst>
          </a:prstGeom>
          <a:solidFill>
            <a:srgbClr val="1A2E42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27832" y="1005840"/>
            <a:ext cx="2788920" cy="128016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1005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3227832" y="1755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65192" y="914400"/>
            <a:ext cx="731520" cy="73152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9272" y="24231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2.1.1 100% navegable por teclado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9272" y="3154680"/>
            <a:ext cx="2606040" cy="0"/>
          </a:xfrm>
          <a:prstGeom prst="line">
            <a:avLst/>
          </a:prstGeom>
          <a:noFill/>
          <a:ln w="6350">
            <a:solidFill>
              <a:srgbClr val="1565C0">
                <a:alpha val="50000"/>
              </a:srgbClr>
            </a:solidFill>
            <a:prstDash val="sysDot"/>
          </a:ln>
        </p:spPr>
      </p:sp>
      <p:sp>
        <p:nvSpPr>
          <p:cNvPr id="30" name="Text 28"/>
          <p:cNvSpPr/>
          <p:nvPr/>
        </p:nvSpPr>
        <p:spPr>
          <a:xfrm>
            <a:off x="3319272" y="3227832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2.4.1 SkipLink activo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19272" y="3959352"/>
            <a:ext cx="2606040" cy="0"/>
          </a:xfrm>
          <a:prstGeom prst="line">
            <a:avLst/>
          </a:prstGeom>
          <a:noFill/>
          <a:ln w="6350">
            <a:solidFill>
              <a:srgbClr val="1565C0">
                <a:alpha val="50000"/>
              </a:srgbClr>
            </a:solidFill>
            <a:prstDash val="sysDot"/>
          </a:ln>
        </p:spPr>
      </p:sp>
      <p:sp>
        <p:nvSpPr>
          <p:cNvPr id="32" name="Text 30"/>
          <p:cNvSpPr/>
          <p:nvPr/>
        </p:nvSpPr>
        <p:spPr>
          <a:xfrm>
            <a:off x="3319272" y="403250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2.4.3 focus management correcto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9272" y="4764024"/>
            <a:ext cx="2606040" cy="0"/>
          </a:xfrm>
          <a:prstGeom prst="line">
            <a:avLst/>
          </a:prstGeom>
          <a:noFill/>
          <a:ln w="6350">
            <a:solidFill>
              <a:srgbClr val="1565C0">
                <a:alpha val="50000"/>
              </a:srgbClr>
            </a:solidFill>
            <a:prstDash val="sysDot"/>
          </a:ln>
        </p:spPr>
      </p:sp>
      <p:sp>
        <p:nvSpPr>
          <p:cNvPr id="34" name="Text 32"/>
          <p:cNvSpPr/>
          <p:nvPr/>
        </p:nvSpPr>
        <p:spPr>
          <a:xfrm>
            <a:off x="3319272" y="4837176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2.4.7 indicador de foco visible 3px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9272" y="5568696"/>
            <a:ext cx="2606040" cy="0"/>
          </a:xfrm>
          <a:prstGeom prst="line">
            <a:avLst/>
          </a:prstGeom>
          <a:noFill/>
          <a:ln w="6350">
            <a:solidFill>
              <a:srgbClr val="1565C0">
                <a:alpha val="50000"/>
              </a:srgbClr>
            </a:solidFill>
            <a:prstDash val="sysDot"/>
          </a:ln>
        </p:spPr>
      </p:sp>
      <p:sp>
        <p:nvSpPr>
          <p:cNvPr id="36" name="Text 34"/>
          <p:cNvSpPr/>
          <p:nvPr/>
        </p:nvSpPr>
        <p:spPr>
          <a:xfrm>
            <a:off x="3319272" y="564184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2.5.7 alternativa drag (sr-only nav)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35624" y="1005840"/>
            <a:ext cx="2788920" cy="5577840"/>
          </a:xfrm>
          <a:prstGeom prst="roundRect">
            <a:avLst>
              <a:gd name="adj" fmla="val 4590"/>
            </a:avLst>
          </a:prstGeom>
          <a:solidFill>
            <a:srgbClr val="1A2E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35624" y="1005840"/>
            <a:ext cx="2788920" cy="128016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35624" y="1005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6135624" y="1755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Comprensible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72984" y="914400"/>
            <a:ext cx="731520" cy="73152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72984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27064" y="24231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3.1.1 &lt;html lang="es"&gt;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27064" y="3154680"/>
            <a:ext cx="2606040" cy="0"/>
          </a:xfrm>
          <a:prstGeom prst="line">
            <a:avLst/>
          </a:prstGeom>
          <a:noFill/>
          <a:ln w="6350">
            <a:solidFill>
              <a:srgbClr val="16A34A">
                <a:alpha val="50000"/>
              </a:srgbClr>
            </a:solidFill>
            <a:prstDash val="sysDot"/>
          </a:ln>
        </p:spPr>
      </p:sp>
      <p:sp>
        <p:nvSpPr>
          <p:cNvPr id="45" name="Text 43"/>
          <p:cNvSpPr/>
          <p:nvPr/>
        </p:nvSpPr>
        <p:spPr>
          <a:xfrm>
            <a:off x="6227064" y="3227832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3.2.3 Navbar coherente en todas las págs.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27064" y="3959352"/>
            <a:ext cx="2606040" cy="0"/>
          </a:xfrm>
          <a:prstGeom prst="line">
            <a:avLst/>
          </a:prstGeom>
          <a:noFill/>
          <a:ln w="6350">
            <a:solidFill>
              <a:srgbClr val="16A34A">
                <a:alpha val="50000"/>
              </a:srgbClr>
            </a:solidFill>
            <a:prstDash val="sysDot"/>
          </a:ln>
        </p:spPr>
      </p:sp>
      <p:sp>
        <p:nvSpPr>
          <p:cNvPr id="47" name="Text 45"/>
          <p:cNvSpPr/>
          <p:nvPr/>
        </p:nvSpPr>
        <p:spPr>
          <a:xfrm>
            <a:off x="6227064" y="403250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3.3.1 errores con role="alert"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27064" y="4764024"/>
            <a:ext cx="2606040" cy="0"/>
          </a:xfrm>
          <a:prstGeom prst="line">
            <a:avLst/>
          </a:prstGeom>
          <a:noFill/>
          <a:ln w="6350">
            <a:solidFill>
              <a:srgbClr val="16A34A">
                <a:alpha val="50000"/>
              </a:srgbClr>
            </a:solidFill>
            <a:prstDash val="sysDot"/>
          </a:ln>
        </p:spPr>
      </p:sp>
      <p:sp>
        <p:nvSpPr>
          <p:cNvPr id="49" name="Text 47"/>
          <p:cNvSpPr/>
          <p:nvPr/>
        </p:nvSpPr>
        <p:spPr>
          <a:xfrm>
            <a:off x="6227064" y="4837176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3.3.2 labels visibles en formularios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27064" y="5568696"/>
            <a:ext cx="2606040" cy="0"/>
          </a:xfrm>
          <a:prstGeom prst="line">
            <a:avLst/>
          </a:prstGeom>
          <a:noFill/>
          <a:ln w="6350">
            <a:solidFill>
              <a:srgbClr val="16A34A">
                <a:alpha val="50000"/>
              </a:srgbClr>
            </a:solidFill>
            <a:prstDash val="sysDot"/>
          </a:ln>
        </p:spPr>
      </p:sp>
      <p:sp>
        <p:nvSpPr>
          <p:cNvPr id="51" name="Text 49"/>
          <p:cNvSpPr/>
          <p:nvPr/>
        </p:nvSpPr>
        <p:spPr>
          <a:xfrm>
            <a:off x="6227064" y="564184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3.2.6 contacto en footer consistente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043416" y="1005840"/>
            <a:ext cx="2788920" cy="5577840"/>
          </a:xfrm>
          <a:prstGeom prst="roundRect">
            <a:avLst>
              <a:gd name="adj" fmla="val 4590"/>
            </a:avLst>
          </a:prstGeom>
          <a:solidFill>
            <a:srgbClr val="1A2E42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43416" y="1005840"/>
            <a:ext cx="2788920" cy="128016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43416" y="1005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200" dirty="0"/>
          </a:p>
        </p:txBody>
      </p:sp>
      <p:sp>
        <p:nvSpPr>
          <p:cNvPr id="55" name="Text 53"/>
          <p:cNvSpPr/>
          <p:nvPr/>
        </p:nvSpPr>
        <p:spPr>
          <a:xfrm>
            <a:off x="9043416" y="1755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780776" y="914400"/>
            <a:ext cx="731520" cy="73152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780776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134856" y="24231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4.1.1 HTML válido, sin IDs dup.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134856" y="3154680"/>
            <a:ext cx="260604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ysDot"/>
          </a:ln>
        </p:spPr>
      </p:sp>
      <p:sp>
        <p:nvSpPr>
          <p:cNvPr id="60" name="Text 58"/>
          <p:cNvSpPr/>
          <p:nvPr/>
        </p:nvSpPr>
        <p:spPr>
          <a:xfrm>
            <a:off x="9134856" y="3227832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4.1.2 aria-expanded/controls/current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134856" y="3959352"/>
            <a:ext cx="260604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ysDot"/>
          </a:ln>
        </p:spPr>
      </p:sp>
      <p:sp>
        <p:nvSpPr>
          <p:cNvPr id="62" name="Text 60"/>
          <p:cNvSpPr/>
          <p:nvPr/>
        </p:nvSpPr>
        <p:spPr>
          <a:xfrm>
            <a:off x="9134856" y="403250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4.1.3 role="status" en Spinner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134856" y="4764024"/>
            <a:ext cx="260604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ysDot"/>
          </a:ln>
        </p:spPr>
      </p:sp>
      <p:sp>
        <p:nvSpPr>
          <p:cNvPr id="64" name="Text 62"/>
          <p:cNvSpPr/>
          <p:nvPr/>
        </p:nvSpPr>
        <p:spPr>
          <a:xfrm>
            <a:off x="9134856" y="4837176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axe DevTools 0 violaciones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134856" y="5568696"/>
            <a:ext cx="260604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ysDot"/>
          </a:ln>
        </p:spPr>
      </p:sp>
      <p:sp>
        <p:nvSpPr>
          <p:cNvPr id="66" name="Text 64"/>
          <p:cNvSpPr/>
          <p:nvPr/>
        </p:nvSpPr>
        <p:spPr>
          <a:xfrm>
            <a:off x="9134856" y="564184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NVDA + Chrome: landmarks OK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 WCAG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Conformidad WCAG 2.2 AA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6A34A">
              <a:alpha val="3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Implementado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960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Parcial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580C">
              <a:alpha val="3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960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Pendiente (Sprint 3)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1417320"/>
            <a:ext cx="135331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4173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82496" y="1417320"/>
            <a:ext cx="4992624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2496" y="1417320"/>
            <a:ext cx="4992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11696" y="1417320"/>
            <a:ext cx="603504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1417320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51776" y="1417320"/>
            <a:ext cx="1106424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51776" y="1417320"/>
            <a:ext cx="1106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94776" y="1417320"/>
            <a:ext cx="2523744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94776" y="141732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2608" y="1792224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82496" y="1792224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11696" y="1792224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51776" y="1792224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94776" y="1792224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" y="1828800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1828800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82496" y="1810512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alternativo (alt descriptivo en imágenes)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11696" y="1792224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51776" y="1792224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94776" y="1810512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· WAVE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2608" y="2061972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82496" y="2061972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11696" y="2061972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51776" y="2061972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94776" y="2061972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8328" y="2098548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" y="2098548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82496" y="2080260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Subtítulos para video — archivo VTT incluido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11696" y="2061972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351776" y="2061972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94776" y="2080260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92608" y="2331720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2496" y="2331720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11696" y="2331720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51776" y="2331720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94776" y="2331720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368296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EA580C">
              <a:alpha val="25000"/>
            </a:srgbClr>
          </a:solidFill>
          <a:ln w="12700">
            <a:solidFill>
              <a:srgbClr val="EA580C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28" y="2368296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682496" y="2350008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Audiodescripción del video — aún pendiente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11696" y="2331720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351776" y="2331720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494776" y="2350008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92608" y="2601468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82496" y="2601468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11696" y="2601468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51776" y="2601468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94776" y="2601468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8328" y="2638044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" y="2638044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682496" y="2619756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relaciones — HTML semántico H1→H3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711696" y="2601468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351776" y="2601468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494776" y="2619756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· NVDA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92608" y="2871216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82496" y="2871216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11696" y="2871216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51776" y="2871216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94776" y="2871216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38328" y="2907792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8328" y="2907792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1.3.4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682496" y="2889504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— no se bloquea modo horizontal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711696" y="2871216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351776" y="2871216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494776" y="2889504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92608" y="3140964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82496" y="3140964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11696" y="3140964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51776" y="3140964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494776" y="3140964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8328" y="3177540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8328" y="3177540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682496" y="3159252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del color — no único indicador de info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711696" y="3140964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351776" y="3140964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8494776" y="3159252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92608" y="3410712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682496" y="3410712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711696" y="3410712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51776" y="3410712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494776" y="3410712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8328" y="3447288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8328" y="3447288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1682496" y="3429000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mínimo 4.5:1 texto / 3:1 grande — 7 fixes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711696" y="3410712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7351776" y="3410712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8494776" y="3429000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Pa11y · WAVE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92608" y="3680460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682496" y="3680460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11696" y="3680460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351776" y="3680460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494776" y="3680460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38328" y="3717036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38328" y="3717036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1.4.10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1682496" y="3698748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Reflow — funcional a 320px sin scroll horizontal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6711696" y="3680460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7351776" y="3680460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8494776" y="3698748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292608" y="3950208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682496" y="3950208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711696" y="3950208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351776" y="3950208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494776" y="3950208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38328" y="3986784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38328" y="3986784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1682496" y="3968496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componentes UI — foco 3px outline teal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6711696" y="3950208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7351776" y="3950208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8494776" y="3968496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DevTools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292608" y="4219956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682496" y="4219956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711696" y="4219956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351776" y="4219956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494776" y="4219956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38328" y="4256532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38328" y="4256532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2.1.1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1682496" y="4238244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— 100% navegable sin ratón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6711696" y="4219956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7351776" y="4219956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32" name="Text 130"/>
          <p:cNvSpPr/>
          <p:nvPr/>
        </p:nvSpPr>
        <p:spPr>
          <a:xfrm>
            <a:off x="8494776" y="4238244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manual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292608" y="4489704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682496" y="4489704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11696" y="4489704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351776" y="4489704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494776" y="4489704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38328" y="4526280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38328" y="4526280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1682496" y="4507992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trampa de teclado — Modal cierra con Esc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6711696" y="4489704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7351776" y="4489704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43" name="Text 141"/>
          <p:cNvSpPr/>
          <p:nvPr/>
        </p:nvSpPr>
        <p:spPr>
          <a:xfrm>
            <a:off x="8494776" y="4507992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manual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292608" y="4759452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682496" y="4759452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711696" y="4759452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51776" y="4759452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494776" y="4759452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38328" y="4796028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38328" y="4796028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2.4.1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1682496" y="4777740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 bloques — SkipLink "Saltar al contenido"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6711696" y="4759452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53" name="Text 151"/>
          <p:cNvSpPr/>
          <p:nvPr/>
        </p:nvSpPr>
        <p:spPr>
          <a:xfrm>
            <a:off x="7351776" y="4759452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54" name="Text 152"/>
          <p:cNvSpPr/>
          <p:nvPr/>
        </p:nvSpPr>
        <p:spPr>
          <a:xfrm>
            <a:off x="8494776" y="4777740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manual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292608" y="5029200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682496" y="5029200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711696" y="5029200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351776" y="5029200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494776" y="5029200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38328" y="5065776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38328" y="5065776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2.4.3</a:t>
            </a:r>
            <a:endParaRPr lang="en-US" sz="900" dirty="0"/>
          </a:p>
        </p:txBody>
      </p:sp>
      <p:sp>
        <p:nvSpPr>
          <p:cNvPr id="162" name="Text 160"/>
          <p:cNvSpPr/>
          <p:nvPr/>
        </p:nvSpPr>
        <p:spPr>
          <a:xfrm>
            <a:off x="1682496" y="5047488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del foco — PageWrapper gestiona foco al navegar</a:t>
            </a:r>
            <a:endParaRPr lang="en-US" sz="850" dirty="0"/>
          </a:p>
        </p:txBody>
      </p:sp>
      <p:sp>
        <p:nvSpPr>
          <p:cNvPr id="163" name="Text 161"/>
          <p:cNvSpPr/>
          <p:nvPr/>
        </p:nvSpPr>
        <p:spPr>
          <a:xfrm>
            <a:off x="6711696" y="5029200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7351776" y="5029200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65" name="Text 163"/>
          <p:cNvSpPr/>
          <p:nvPr/>
        </p:nvSpPr>
        <p:spPr>
          <a:xfrm>
            <a:off x="8494776" y="5047488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+ Chrome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292608" y="5298948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682496" y="5298948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711696" y="5298948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351776" y="5298948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494776" y="5298948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38328" y="5335524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38328" y="5335524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2.4.7</a:t>
            </a:r>
            <a:endParaRPr lang="en-US" sz="900" dirty="0"/>
          </a:p>
        </p:txBody>
      </p:sp>
      <p:sp>
        <p:nvSpPr>
          <p:cNvPr id="173" name="Text 171"/>
          <p:cNvSpPr/>
          <p:nvPr/>
        </p:nvSpPr>
        <p:spPr>
          <a:xfrm>
            <a:off x="1682496" y="5317236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visible — outline 3px teal en todos los elementos</a:t>
            </a:r>
            <a:endParaRPr lang="en-US" sz="850" dirty="0"/>
          </a:p>
        </p:txBody>
      </p:sp>
      <p:sp>
        <p:nvSpPr>
          <p:cNvPr id="174" name="Text 172"/>
          <p:cNvSpPr/>
          <p:nvPr/>
        </p:nvSpPr>
        <p:spPr>
          <a:xfrm>
            <a:off x="6711696" y="5298948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175" name="Text 173"/>
          <p:cNvSpPr/>
          <p:nvPr/>
        </p:nvSpPr>
        <p:spPr>
          <a:xfrm>
            <a:off x="7351776" y="5298948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76" name="Text 174"/>
          <p:cNvSpPr/>
          <p:nvPr/>
        </p:nvSpPr>
        <p:spPr>
          <a:xfrm>
            <a:off x="8494776" y="5317236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manual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292608" y="5568696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682496" y="5568696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711696" y="5568696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351776" y="5568696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494776" y="5568696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38328" y="5605272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38328" y="5605272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2.5.7</a:t>
            </a:r>
            <a:endParaRPr lang="en-US" sz="900" dirty="0"/>
          </a:p>
        </p:txBody>
      </p:sp>
      <p:sp>
        <p:nvSpPr>
          <p:cNvPr id="184" name="Text 182"/>
          <p:cNvSpPr/>
          <p:nvPr/>
        </p:nvSpPr>
        <p:spPr>
          <a:xfrm>
            <a:off x="1682496" y="5586984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arrastre — nav sr-only para cubo 3D</a:t>
            </a:r>
            <a:endParaRPr lang="en-US" sz="850" dirty="0"/>
          </a:p>
        </p:txBody>
      </p:sp>
      <p:sp>
        <p:nvSpPr>
          <p:cNvPr id="185" name="Text 183"/>
          <p:cNvSpPr/>
          <p:nvPr/>
        </p:nvSpPr>
        <p:spPr>
          <a:xfrm>
            <a:off x="6711696" y="5568696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186" name="Text 184"/>
          <p:cNvSpPr/>
          <p:nvPr/>
        </p:nvSpPr>
        <p:spPr>
          <a:xfrm>
            <a:off x="7351776" y="5568696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87" name="Text 185"/>
          <p:cNvSpPr/>
          <p:nvPr/>
        </p:nvSpPr>
        <p:spPr>
          <a:xfrm>
            <a:off x="8494776" y="5586984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292608" y="5838444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682496" y="5838444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711696" y="5838444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351776" y="5838444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494776" y="5838444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338328" y="5875020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338328" y="5875020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3.1.1</a:t>
            </a:r>
            <a:endParaRPr lang="en-US" sz="900" dirty="0"/>
          </a:p>
        </p:txBody>
      </p:sp>
      <p:sp>
        <p:nvSpPr>
          <p:cNvPr id="195" name="Text 193"/>
          <p:cNvSpPr/>
          <p:nvPr/>
        </p:nvSpPr>
        <p:spPr>
          <a:xfrm>
            <a:off x="1682496" y="5856732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de la página — &lt;html lang="es"&gt;</a:t>
            </a:r>
            <a:endParaRPr lang="en-US" sz="850" dirty="0"/>
          </a:p>
        </p:txBody>
      </p:sp>
      <p:sp>
        <p:nvSpPr>
          <p:cNvPr id="196" name="Text 194"/>
          <p:cNvSpPr/>
          <p:nvPr/>
        </p:nvSpPr>
        <p:spPr>
          <a:xfrm>
            <a:off x="6711696" y="5838444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97" name="Text 195"/>
          <p:cNvSpPr/>
          <p:nvPr/>
        </p:nvSpPr>
        <p:spPr>
          <a:xfrm>
            <a:off x="7351776" y="5838444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98" name="Text 196"/>
          <p:cNvSpPr/>
          <p:nvPr/>
        </p:nvSpPr>
        <p:spPr>
          <a:xfrm>
            <a:off x="8494776" y="5856732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· Pa11y</a:t>
            </a:r>
            <a:endParaRPr lang="en-US" sz="800" dirty="0"/>
          </a:p>
        </p:txBody>
      </p:sp>
      <p:sp>
        <p:nvSpPr>
          <p:cNvPr id="199" name="Shape 197"/>
          <p:cNvSpPr/>
          <p:nvPr/>
        </p:nvSpPr>
        <p:spPr>
          <a:xfrm>
            <a:off x="292608" y="6108192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682496" y="6108192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711696" y="6108192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51776" y="6108192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494776" y="6108192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38328" y="6144768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38328" y="6144768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3.2.3</a:t>
            </a:r>
            <a:endParaRPr lang="en-US" sz="900" dirty="0"/>
          </a:p>
        </p:txBody>
      </p:sp>
      <p:sp>
        <p:nvSpPr>
          <p:cNvPr id="206" name="Text 204"/>
          <p:cNvSpPr/>
          <p:nvPr/>
        </p:nvSpPr>
        <p:spPr>
          <a:xfrm>
            <a:off x="1682496" y="6126480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coherente — Navbar idéntico en todas las págs</a:t>
            </a:r>
            <a:endParaRPr lang="en-US" sz="850" dirty="0"/>
          </a:p>
        </p:txBody>
      </p:sp>
      <p:sp>
        <p:nvSpPr>
          <p:cNvPr id="207" name="Text 205"/>
          <p:cNvSpPr/>
          <p:nvPr/>
        </p:nvSpPr>
        <p:spPr>
          <a:xfrm>
            <a:off x="6711696" y="6108192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208" name="Text 206"/>
          <p:cNvSpPr/>
          <p:nvPr/>
        </p:nvSpPr>
        <p:spPr>
          <a:xfrm>
            <a:off x="7351776" y="6108192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09" name="Text 207"/>
          <p:cNvSpPr/>
          <p:nvPr/>
        </p:nvSpPr>
        <p:spPr>
          <a:xfrm>
            <a:off x="8494776" y="6126480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</a:t>
            </a:r>
            <a:endParaRPr lang="en-US" sz="800" dirty="0"/>
          </a:p>
        </p:txBody>
      </p:sp>
      <p:sp>
        <p:nvSpPr>
          <p:cNvPr id="210" name="Shape 208"/>
          <p:cNvSpPr/>
          <p:nvPr/>
        </p:nvSpPr>
        <p:spPr>
          <a:xfrm>
            <a:off x="292608" y="6377940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682496" y="6377940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711696" y="6377940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51776" y="6377940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494776" y="6377940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338328" y="6414516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338328" y="6414516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3.2.6</a:t>
            </a:r>
            <a:endParaRPr lang="en-US" sz="900" dirty="0"/>
          </a:p>
        </p:txBody>
      </p:sp>
      <p:sp>
        <p:nvSpPr>
          <p:cNvPr id="217" name="Text 215"/>
          <p:cNvSpPr/>
          <p:nvPr/>
        </p:nvSpPr>
        <p:spPr>
          <a:xfrm>
            <a:off x="1682496" y="6396228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consistente — contacto en footer en todas las págs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6711696" y="6377940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7351776" y="6377940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20" name="Text 218"/>
          <p:cNvSpPr/>
          <p:nvPr/>
        </p:nvSpPr>
        <p:spPr>
          <a:xfrm>
            <a:off x="8494776" y="6396228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</a:t>
            </a:r>
            <a:endParaRPr lang="en-US" sz="800" dirty="0"/>
          </a:p>
        </p:txBody>
      </p:sp>
      <p:sp>
        <p:nvSpPr>
          <p:cNvPr id="221" name="Shape 219"/>
          <p:cNvSpPr/>
          <p:nvPr/>
        </p:nvSpPr>
        <p:spPr>
          <a:xfrm>
            <a:off x="292608" y="6647688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682496" y="6647688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711696" y="6647688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351776" y="6647688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494776" y="6647688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38328" y="6684264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338328" y="6684264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3.3.1</a:t>
            </a:r>
            <a:endParaRPr lang="en-US" sz="900" dirty="0"/>
          </a:p>
        </p:txBody>
      </p:sp>
      <p:sp>
        <p:nvSpPr>
          <p:cNvPr id="228" name="Text 226"/>
          <p:cNvSpPr/>
          <p:nvPr/>
        </p:nvSpPr>
        <p:spPr>
          <a:xfrm>
            <a:off x="1682496" y="6665976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errores — role="alert" en validación</a:t>
            </a:r>
            <a:endParaRPr lang="en-US" sz="850" dirty="0"/>
          </a:p>
        </p:txBody>
      </p:sp>
      <p:sp>
        <p:nvSpPr>
          <p:cNvPr id="229" name="Text 227"/>
          <p:cNvSpPr/>
          <p:nvPr/>
        </p:nvSpPr>
        <p:spPr>
          <a:xfrm>
            <a:off x="6711696" y="6647688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30" name="Text 228"/>
          <p:cNvSpPr/>
          <p:nvPr/>
        </p:nvSpPr>
        <p:spPr>
          <a:xfrm>
            <a:off x="7351776" y="6647688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31" name="Text 229"/>
          <p:cNvSpPr/>
          <p:nvPr/>
        </p:nvSpPr>
        <p:spPr>
          <a:xfrm>
            <a:off x="8494776" y="6665976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· NVDA</a:t>
            </a:r>
            <a:endParaRPr lang="en-US" sz="800" dirty="0"/>
          </a:p>
        </p:txBody>
      </p:sp>
      <p:sp>
        <p:nvSpPr>
          <p:cNvPr id="232" name="Shape 230"/>
          <p:cNvSpPr/>
          <p:nvPr/>
        </p:nvSpPr>
        <p:spPr>
          <a:xfrm>
            <a:off x="292608" y="6917436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682496" y="6917436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711696" y="6917436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351776" y="6917436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494776" y="6917436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338328" y="6954012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338328" y="6954012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3.3.2</a:t>
            </a:r>
            <a:endParaRPr lang="en-US" sz="900" dirty="0"/>
          </a:p>
        </p:txBody>
      </p:sp>
      <p:sp>
        <p:nvSpPr>
          <p:cNvPr id="239" name="Text 237"/>
          <p:cNvSpPr/>
          <p:nvPr/>
        </p:nvSpPr>
        <p:spPr>
          <a:xfrm>
            <a:off x="1682496" y="6935724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o instrucciones — &lt;label&gt; visible en forms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6711696" y="6917436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7351776" y="6917436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42" name="Text 240"/>
          <p:cNvSpPr/>
          <p:nvPr/>
        </p:nvSpPr>
        <p:spPr>
          <a:xfrm>
            <a:off x="8494776" y="6935724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DevTools</a:t>
            </a:r>
            <a:endParaRPr lang="en-US" sz="800" dirty="0"/>
          </a:p>
        </p:txBody>
      </p:sp>
      <p:sp>
        <p:nvSpPr>
          <p:cNvPr id="243" name="Shape 241"/>
          <p:cNvSpPr/>
          <p:nvPr/>
        </p:nvSpPr>
        <p:spPr>
          <a:xfrm>
            <a:off x="292608" y="7187184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682496" y="7187184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711696" y="7187184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351776" y="7187184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494776" y="7187184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338328" y="7223760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338328" y="7223760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4.1.1</a:t>
            </a:r>
            <a:endParaRPr lang="en-US" sz="900" dirty="0"/>
          </a:p>
        </p:txBody>
      </p:sp>
      <p:sp>
        <p:nvSpPr>
          <p:cNvPr id="250" name="Text 248"/>
          <p:cNvSpPr/>
          <p:nvPr/>
        </p:nvSpPr>
        <p:spPr>
          <a:xfrm>
            <a:off x="1682496" y="7205472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sintáctico — HTML válido, sin IDs duplicados</a:t>
            </a:r>
            <a:endParaRPr lang="en-US" sz="850" dirty="0"/>
          </a:p>
        </p:txBody>
      </p:sp>
      <p:sp>
        <p:nvSpPr>
          <p:cNvPr id="251" name="Text 249"/>
          <p:cNvSpPr/>
          <p:nvPr/>
        </p:nvSpPr>
        <p:spPr>
          <a:xfrm>
            <a:off x="6711696" y="7187184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52" name="Text 250"/>
          <p:cNvSpPr/>
          <p:nvPr/>
        </p:nvSpPr>
        <p:spPr>
          <a:xfrm>
            <a:off x="7351776" y="7187184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53" name="Text 251"/>
          <p:cNvSpPr/>
          <p:nvPr/>
        </p:nvSpPr>
        <p:spPr>
          <a:xfrm>
            <a:off x="8494776" y="7205472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· W3C</a:t>
            </a:r>
            <a:endParaRPr lang="en-US" sz="800" dirty="0"/>
          </a:p>
        </p:txBody>
      </p:sp>
      <p:sp>
        <p:nvSpPr>
          <p:cNvPr id="254" name="Shape 252"/>
          <p:cNvSpPr/>
          <p:nvPr/>
        </p:nvSpPr>
        <p:spPr>
          <a:xfrm>
            <a:off x="292608" y="7456932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682496" y="7456932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6711696" y="7456932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351776" y="7456932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8494776" y="7456932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338328" y="7493508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338328" y="7493508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4.1.2</a:t>
            </a:r>
            <a:endParaRPr lang="en-US" sz="900" dirty="0"/>
          </a:p>
        </p:txBody>
      </p:sp>
      <p:sp>
        <p:nvSpPr>
          <p:cNvPr id="261" name="Text 259"/>
          <p:cNvSpPr/>
          <p:nvPr/>
        </p:nvSpPr>
        <p:spPr>
          <a:xfrm>
            <a:off x="1682496" y="7475220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Nombre/función/valor — aria-* correctos, no prohibidos</a:t>
            </a:r>
            <a:endParaRPr lang="en-US" sz="850" dirty="0"/>
          </a:p>
        </p:txBody>
      </p:sp>
      <p:sp>
        <p:nvSpPr>
          <p:cNvPr id="262" name="Text 260"/>
          <p:cNvSpPr/>
          <p:nvPr/>
        </p:nvSpPr>
        <p:spPr>
          <a:xfrm>
            <a:off x="6711696" y="7456932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63" name="Text 261"/>
          <p:cNvSpPr/>
          <p:nvPr/>
        </p:nvSpPr>
        <p:spPr>
          <a:xfrm>
            <a:off x="7351776" y="7456932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64" name="Text 262"/>
          <p:cNvSpPr/>
          <p:nvPr/>
        </p:nvSpPr>
        <p:spPr>
          <a:xfrm>
            <a:off x="8494776" y="7475220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4.9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292608" y="7726680"/>
            <a:ext cx="1353312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682496" y="7726680"/>
            <a:ext cx="49926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6711696" y="7726680"/>
            <a:ext cx="60350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351776" y="7726680"/>
            <a:ext cx="110642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8494776" y="7726680"/>
            <a:ext cx="2523744" cy="2697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338328" y="7763256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338328" y="7763256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4.1.3</a:t>
            </a:r>
            <a:endParaRPr lang="en-US" sz="900" dirty="0"/>
          </a:p>
        </p:txBody>
      </p:sp>
      <p:sp>
        <p:nvSpPr>
          <p:cNvPr id="272" name="Text 270"/>
          <p:cNvSpPr/>
          <p:nvPr/>
        </p:nvSpPr>
        <p:spPr>
          <a:xfrm>
            <a:off x="1682496" y="7744968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estado — role="status" en spinners</a:t>
            </a:r>
            <a:endParaRPr lang="en-US" sz="850" dirty="0"/>
          </a:p>
        </p:txBody>
      </p:sp>
      <p:sp>
        <p:nvSpPr>
          <p:cNvPr id="273" name="Text 271"/>
          <p:cNvSpPr/>
          <p:nvPr/>
        </p:nvSpPr>
        <p:spPr>
          <a:xfrm>
            <a:off x="6711696" y="7726680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274" name="Text 272"/>
          <p:cNvSpPr/>
          <p:nvPr/>
        </p:nvSpPr>
        <p:spPr>
          <a:xfrm>
            <a:off x="7351776" y="7726680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75" name="Text 273"/>
          <p:cNvSpPr/>
          <p:nvPr/>
        </p:nvSpPr>
        <p:spPr>
          <a:xfrm>
            <a:off x="8494776" y="7744968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DevTools</a:t>
            </a:r>
            <a:endParaRPr lang="en-US" sz="800" dirty="0"/>
          </a:p>
        </p:txBody>
      </p:sp>
      <p:sp>
        <p:nvSpPr>
          <p:cNvPr id="276" name="Shape 274"/>
          <p:cNvSpPr/>
          <p:nvPr/>
        </p:nvSpPr>
        <p:spPr>
          <a:xfrm>
            <a:off x="292608" y="7996428"/>
            <a:ext cx="1353312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682496" y="7996428"/>
            <a:ext cx="49926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6711696" y="7996428"/>
            <a:ext cx="60350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351776" y="7996428"/>
            <a:ext cx="110642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94776" y="7996428"/>
            <a:ext cx="2523744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38328" y="8033004"/>
            <a:ext cx="1298448" cy="196596"/>
          </a:xfrm>
          <a:prstGeom prst="roundRect">
            <a:avLst>
              <a:gd name="adj" fmla="val 32558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338328" y="8033004"/>
            <a:ext cx="12984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n-US" sz="900" dirty="0"/>
          </a:p>
        </p:txBody>
      </p:sp>
      <p:sp>
        <p:nvSpPr>
          <p:cNvPr id="283" name="Text 281"/>
          <p:cNvSpPr/>
          <p:nvPr/>
        </p:nvSpPr>
        <p:spPr>
          <a:xfrm>
            <a:off x="1682496" y="8014716"/>
            <a:ext cx="495604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Layout Shift — shimmer→transform (Sprint 3)</a:t>
            </a:r>
            <a:endParaRPr lang="en-US" sz="850" dirty="0"/>
          </a:p>
        </p:txBody>
      </p:sp>
      <p:sp>
        <p:nvSpPr>
          <p:cNvPr id="284" name="Text 282"/>
          <p:cNvSpPr/>
          <p:nvPr/>
        </p:nvSpPr>
        <p:spPr>
          <a:xfrm>
            <a:off x="6711696" y="7996428"/>
            <a:ext cx="640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</a:t>
            </a:r>
            <a:endParaRPr lang="en-US" sz="850" dirty="0"/>
          </a:p>
        </p:txBody>
      </p:sp>
      <p:sp>
        <p:nvSpPr>
          <p:cNvPr id="285" name="Text 283"/>
          <p:cNvSpPr/>
          <p:nvPr/>
        </p:nvSpPr>
        <p:spPr>
          <a:xfrm>
            <a:off x="7351776" y="7996428"/>
            <a:ext cx="1143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00" dirty="0"/>
          </a:p>
        </p:txBody>
      </p:sp>
      <p:sp>
        <p:nvSpPr>
          <p:cNvPr id="286" name="Text 284"/>
          <p:cNvSpPr/>
          <p:nvPr/>
        </p:nvSpPr>
        <p:spPr>
          <a:xfrm>
            <a:off x="8494776" y="8014716"/>
            <a:ext cx="2487168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PageSpeed</a:t>
            </a:r>
            <a:endParaRPr lang="en-US" sz="800" dirty="0"/>
          </a:p>
        </p:txBody>
      </p:sp>
      <p:sp>
        <p:nvSpPr>
          <p:cNvPr id="287" name="Shape 285"/>
          <p:cNvSpPr/>
          <p:nvPr/>
        </p:nvSpPr>
        <p:spPr>
          <a:xfrm>
            <a:off x="292608" y="8339328"/>
            <a:ext cx="11375136" cy="402336"/>
          </a:xfrm>
          <a:prstGeom prst="roundRect">
            <a:avLst>
              <a:gd name="adj" fmla="val 22727"/>
            </a:avLst>
          </a:prstGeom>
          <a:solidFill>
            <a:srgbClr val="1A2E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411480" y="8339328"/>
            <a:ext cx="11155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Total evaluado: 24 criterios  ·  ✅ 22 implementados (91.7%)  ·  ⚠️ 1 parcial  ·  ⏳ 1 pendiente (Sprint 3)  ·  Herramientas: 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Evaluación de Accesibilidad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3712464" cy="2514600"/>
          </a:xfrm>
          <a:prstGeom prst="roundRect">
            <a:avLst>
              <a:gd name="adj" fmla="val 5091"/>
            </a:avLst>
          </a:prstGeom>
          <a:solidFill>
            <a:srgbClr val="1A2E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6152" y="109728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DevTools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16152" y="1444752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92024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violaciones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3493008" cy="0"/>
          </a:xfrm>
          <a:prstGeom prst="line">
            <a:avLst/>
          </a:prstGeom>
          <a:noFill/>
          <a:ln w="1016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0360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críticas · 0 graves · 0 moderadas en todas las páginas públicas evaluadas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1005840"/>
            <a:ext cx="3712464" cy="2514600"/>
          </a:xfrm>
          <a:prstGeom prst="roundRect">
            <a:avLst>
              <a:gd name="adj" fmla="val 5091"/>
            </a:avLst>
          </a:prstGeom>
          <a:solidFill>
            <a:srgbClr val="1A2E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1155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74920" y="109728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1444752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13.4.0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15968" y="187452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779008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15968" y="2788920"/>
            <a:ext cx="3493008" cy="0"/>
          </a:xfrm>
          <a:prstGeom prst="line">
            <a:avLst/>
          </a:prstGeom>
          <a:noFill/>
          <a:ln w="1016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2880360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92/100 · Best Practices 96/100 · SEO 100/100 (PageSpeed Insights)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65008" y="1005840"/>
            <a:ext cx="3712464" cy="2514600"/>
          </a:xfrm>
          <a:prstGeom prst="roundRect">
            <a:avLst>
              <a:gd name="adj" fmla="val 5091"/>
            </a:avLst>
          </a:prstGeom>
          <a:solidFill>
            <a:srgbClr val="1A2E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74736" y="11155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933688" y="109728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33688" y="1444752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WebAIM v3.2.7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74736" y="187452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9637776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74736" y="2788920"/>
            <a:ext cx="3493008" cy="0"/>
          </a:xfrm>
          <a:prstGeom prst="line">
            <a:avLst/>
          </a:prstGeom>
          <a:noFill/>
          <a:ln w="1016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74736" y="2880360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errores · 0 contrast errors · 2 alertas SPA (falsos positivos documentados)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3675888"/>
            <a:ext cx="3712464" cy="2514600"/>
          </a:xfrm>
          <a:prstGeom prst="roundRect">
            <a:avLst>
              <a:gd name="adj" fmla="val 5091"/>
            </a:avLst>
          </a:prstGeom>
          <a:solidFill>
            <a:srgbClr val="1A2E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856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216152" y="3767328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Pa11y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16152" y="411480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9.1.1 WCAG2AA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544568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1920240" y="4773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reales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5458968"/>
            <a:ext cx="3493008" cy="0"/>
          </a:xfrm>
          <a:prstGeom prst="line">
            <a:avLst/>
          </a:prstGeom>
          <a:noFill/>
          <a:ln w="1016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550408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issues de contraste detectados y corregidos el mismo día · 6 FP documentados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06240" y="3675888"/>
            <a:ext cx="3712464" cy="2514600"/>
          </a:xfrm>
          <a:prstGeom prst="roundRect">
            <a:avLst>
              <a:gd name="adj" fmla="val 5091"/>
            </a:avLst>
          </a:prstGeom>
          <a:solidFill>
            <a:srgbClr val="1A2E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15968" y="37856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🔊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074920" y="3767328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+ Chrome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74920" y="411480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 + 126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15968" y="4544568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5779008" y="4773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15968" y="5458968"/>
            <a:ext cx="3493008" cy="0"/>
          </a:xfrm>
          <a:prstGeom prst="line">
            <a:avLst/>
          </a:prstGeom>
          <a:noFill/>
          <a:ln w="1016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15968" y="5550408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· H1→H3 correctos · aria-expanded · formularios · errores anunciados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65008" y="3675888"/>
            <a:ext cx="3712464" cy="2514600"/>
          </a:xfrm>
          <a:prstGeom prst="roundRect">
            <a:avLst>
              <a:gd name="adj" fmla="val 5091"/>
            </a:avLst>
          </a:prstGeom>
          <a:solidFill>
            <a:srgbClr val="1A2E4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74736" y="37856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8933688" y="3767328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PageSpeed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933688" y="411480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174736" y="4544568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800" dirty="0"/>
          </a:p>
        </p:txBody>
      </p:sp>
      <p:sp>
        <p:nvSpPr>
          <p:cNvPr id="52" name="Text 50"/>
          <p:cNvSpPr/>
          <p:nvPr/>
        </p:nvSpPr>
        <p:spPr>
          <a:xfrm>
            <a:off x="9637776" y="4773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174736" y="5458968"/>
            <a:ext cx="3493008" cy="0"/>
          </a:xfrm>
          <a:prstGeom prst="line">
            <a:avLst/>
          </a:prstGeom>
          <a:noFill/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74736" y="5550408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 1.2s · LCP 2.8s · CLS en mejora (Sprint 3) · Móvil 66/100 (red lenta)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RENDIMIENTO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Web · Rendimiento · Firebase Rules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5577840" cy="5623560"/>
          </a:xfrm>
          <a:prstGeom prst="roundRect">
            <a:avLst>
              <a:gd name="adj" fmla="val 2295"/>
            </a:avLst>
          </a:prstGeom>
          <a:solidFill>
            <a:srgbClr val="1A2E42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60120"/>
            <a:ext cx="5577840" cy="658368"/>
          </a:xfrm>
          <a:prstGeom prst="roundRect">
            <a:avLst>
              <a:gd name="adj" fmla="val 1944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012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Cabeceras HTTP de Seguridad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5376672" cy="658368"/>
          </a:xfrm>
          <a:prstGeom prst="roundRect">
            <a:avLst>
              <a:gd name="adj" fmla="val 11111"/>
            </a:avLst>
          </a:prstGeom>
          <a:solidFill>
            <a:srgbClr val="1A1000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76479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Content-Security-Policy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02082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Restringe fuentes de scripts, estilos e imágenes (CSP)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487168"/>
            <a:ext cx="5376672" cy="658368"/>
          </a:xfrm>
          <a:prstGeom prst="roundRect">
            <a:avLst>
              <a:gd name="adj" fmla="val 11111"/>
            </a:avLst>
          </a:prstGeom>
          <a:solidFill>
            <a:srgbClr val="1A1000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1460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Strict-Transport-Security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77063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HTTPS · max-age=63072000 + preload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236976"/>
            <a:ext cx="5376672" cy="658368"/>
          </a:xfrm>
          <a:prstGeom prst="roundRect">
            <a:avLst>
              <a:gd name="adj" fmla="val 11111"/>
            </a:avLst>
          </a:prstGeom>
          <a:solidFill>
            <a:srgbClr val="1A1000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26440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X-Frame-Options: DENY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5204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Previene clickjacking y framing malicioso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986784"/>
            <a:ext cx="5376672" cy="658368"/>
          </a:xfrm>
          <a:prstGeom prst="roundRect">
            <a:avLst>
              <a:gd name="adj" fmla="val 11111"/>
            </a:avLst>
          </a:prstGeom>
          <a:solidFill>
            <a:srgbClr val="1A1000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01421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427024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nosniff — previene MIME-sniffing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736592"/>
            <a:ext cx="5376672" cy="658368"/>
          </a:xfrm>
          <a:prstGeom prst="roundRect">
            <a:avLst>
              <a:gd name="adj" fmla="val 11111"/>
            </a:avLst>
          </a:prstGeom>
          <a:solidFill>
            <a:srgbClr val="1A1000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76402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Referrer-Policy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502005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strict-origin-when-cross-origin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5486400"/>
            <a:ext cx="5376672" cy="658368"/>
          </a:xfrm>
          <a:prstGeom prst="roundRect">
            <a:avLst>
              <a:gd name="adj" fmla="val 11111"/>
            </a:avLst>
          </a:prstGeom>
          <a:solidFill>
            <a:srgbClr val="1A1000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551383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Permissions-Policy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576986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cámara, micrófono y geolocalización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960120"/>
            <a:ext cx="5559552" cy="2651760"/>
          </a:xfrm>
          <a:prstGeom prst="roundRect">
            <a:avLst>
              <a:gd name="adj" fmla="val 4828"/>
            </a:avLst>
          </a:prstGeom>
          <a:solidFill>
            <a:srgbClr val="1A2E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960120"/>
            <a:ext cx="5559552" cy="658368"/>
          </a:xfrm>
          <a:prstGeom prst="roundRect">
            <a:avLst>
              <a:gd name="adj" fmla="val 19444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96012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Firebase Security Rules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17373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mensajes: create público con validación (nombre ≥2, mensaje ≥10 chars)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72200" y="2176272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mensajes: read/update/delete solo admin autenticado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72200" y="2615184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articulos/noticias/recursos: write solo admin · read público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2200" y="3054096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 Firebase Storage (plan gratuito) — medios en public/media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80760" y="3822192"/>
            <a:ext cx="5559552" cy="2761488"/>
          </a:xfrm>
          <a:prstGeom prst="roundRect">
            <a:avLst>
              <a:gd name="adj" fmla="val 4636"/>
            </a:avLst>
          </a:prstGeom>
          <a:solidFill>
            <a:srgbClr val="1A2E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3822192"/>
            <a:ext cx="5559552" cy="658368"/>
          </a:xfrm>
          <a:prstGeom prst="roundRect">
            <a:avLst>
              <a:gd name="adj" fmla="val 1944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82219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Optimizaciones de Rendimiento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72200" y="459943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splitting + React.lazy + Suspense (16 chunks)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72200" y="4983480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Fonts: preload no bloqueante + display=optional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72200" y="5367528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Skeleton CSS: background-position → transform translateX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5751576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Cache-Control immutable en assets JS/CSS/fonts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72200" y="6135624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Redirect 301 /biblioteca → / · sitemap.xml publicado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Y DESAFÍOS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reales que enfrentamos construyendo SaludEC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92608" y="960120"/>
            <a:ext cx="5669280" cy="1719072"/>
          </a:xfrm>
          <a:prstGeom prst="roundRect">
            <a:avLst>
              <a:gd name="adj" fmla="val 6383"/>
            </a:avLst>
          </a:prstGeom>
          <a:solidFill>
            <a:srgbClr val="1A2E42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960120"/>
            <a:ext cx="960120" cy="1719072"/>
          </a:xfrm>
          <a:prstGeom prst="roundRect">
            <a:avLst>
              <a:gd name="adj" fmla="val 1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960120"/>
            <a:ext cx="9601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#1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44168" y="1051560"/>
            <a:ext cx="4507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reto: Accesibilidad WCAG en una SPA React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44168" y="1399032"/>
            <a:ext cx="45079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como WAVE y Pa11y evalúan el HTML estático antes de que React hidrate — reportan 0 landmarks, 0 headings. Falsos positivos que parecen errores reales. Requirió entender cuándo confiar en axe (JS activo) y cuándo descartar WAVE. Además: NVDA + Chrome reporta diferente a JAWS + Edge. Cada AT tiene sus propias quirks.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44768" y="960120"/>
            <a:ext cx="5669280" cy="1719072"/>
          </a:xfrm>
          <a:prstGeom prst="roundRect">
            <a:avLst>
              <a:gd name="adj" fmla="val 6383"/>
            </a:avLst>
          </a:prstGeom>
          <a:solidFill>
            <a:srgbClr val="1A2E4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960120"/>
            <a:ext cx="960120" cy="1719072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960120"/>
            <a:ext cx="9601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#2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96328" y="1051560"/>
            <a:ext cx="4507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mal usado: atributos prohibidos en roles implícitos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96328" y="1399032"/>
            <a:ext cx="45079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WAI-ARIA 1.2 prohíbe aria-live en role="alert" / role="status" / role="log" porque esos roles ya definen la región en vivo. axe-core 4.9 lo marcó como violación crítica. Habíamos puesto aria-live="assertive" EN ENCIMA de role="alert" pensando que lo reforzaba — en realidad lo invalidaba. 3 archivos afectados, bug sutil difícil de diagnosticar.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2807208"/>
            <a:ext cx="5669280" cy="1719072"/>
          </a:xfrm>
          <a:prstGeom prst="roundRect">
            <a:avLst>
              <a:gd name="adj" fmla="val 6383"/>
            </a:avLst>
          </a:prstGeom>
          <a:solidFill>
            <a:srgbClr val="1A2E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2807208"/>
            <a:ext cx="960120" cy="1719072"/>
          </a:xfrm>
          <a:prstGeom prst="roundRect">
            <a:avLst>
              <a:gd name="adj" fmla="val 1142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807208"/>
            <a:ext cx="9601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#3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44168" y="2898648"/>
            <a:ext cx="4507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CLS: animación shimmer y fonts bloqueantes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44168" y="3246120"/>
            <a:ext cx="45079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skeleton usaba background-position-x para el shimmer — operación no compuesta, forzaba repaint y causaba CLS 0.326. Solución: transform: translateX en ::after. Además Google Fonts bloqueaba el render; cambiamos a preload + onload + display=optional. Dos bugs ortogonales que confluían en el mismo síntoma: layout shifts.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44768" y="2807208"/>
            <a:ext cx="5669280" cy="1719072"/>
          </a:xfrm>
          <a:prstGeom prst="roundRect">
            <a:avLst>
              <a:gd name="adj" fmla="val 6383"/>
            </a:avLst>
          </a:prstGeom>
          <a:solidFill>
            <a:srgbClr val="1A2E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2807208"/>
            <a:ext cx="960120" cy="1719072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2807208"/>
            <a:ext cx="9601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#4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96328" y="2898648"/>
            <a:ext cx="4507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plan gratuito: sin Storage, sin funciones cloud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96328" y="3246120"/>
            <a:ext cx="45079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 requiere plan Blaze (pago). No podíamos subir imágenes de usuarios ni PDFs. Solución: imágenes de Unsplash via URL + CDN; archivos PDF/recursos como links externos en Firestore. El video del sitio se sirve desde /public/media (máx 10 MB en Firebase Hosting). Constraint que redefinió toda la arquitectura de contenido.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" y="4654296"/>
            <a:ext cx="5669280" cy="1719072"/>
          </a:xfrm>
          <a:prstGeom prst="roundRect">
            <a:avLst>
              <a:gd name="adj" fmla="val 6383"/>
            </a:avLst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" y="4654296"/>
            <a:ext cx="960120" cy="1719072"/>
          </a:xfrm>
          <a:prstGeom prst="roundRect">
            <a:avLst>
              <a:gd name="adj" fmla="val 1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654296"/>
            <a:ext cx="9601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#5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44168" y="4745736"/>
            <a:ext cx="4507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Cubo 3D y accesibilidad: WCAG 2.5.7 con CSS 3D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44168" y="5093208"/>
            <a:ext cx="45079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cubo hero usa aria-hidden para ocultar la implementación drag de AT. Pero eso también ocultaba los links de navegación a lectores de pantalla. Fix: &lt;nav class="sr-only"&gt; FUERA del contenedor aria-hidden con enlaces directos a cada módulo. Lección: aria-hidden oculta TODO lo que está dentro, incluyendo lo accesible que pusiste ahí.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44768" y="4654296"/>
            <a:ext cx="5669280" cy="1719072"/>
          </a:xfrm>
          <a:prstGeom prst="roundRect">
            <a:avLst>
              <a:gd name="adj" fmla="val 6383"/>
            </a:avLst>
          </a:prstGeom>
          <a:solidFill>
            <a:srgbClr val="1A2E42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4768" y="4654296"/>
            <a:ext cx="960120" cy="1719072"/>
          </a:xfrm>
          <a:prstGeom prst="roundRect">
            <a:avLst>
              <a:gd name="adj" fmla="val 11429"/>
            </a:avLst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4654296"/>
            <a:ext cx="9601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#6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96328" y="4745736"/>
            <a:ext cx="4507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errores de contraste que Pa11y encontró y axe no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96328" y="5093208"/>
            <a:ext cx="45079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Pa11y (headless Chromium) detectó 7 issues de contraste en /nosotros que axe DevTools no marcó. Ratio real de breadcrumb separator: 2.54:1, muy por debajo del 4.5:1 requerido. Esto demostró que ninguna herramienta es completa — axe y Pa11y son complementarias, no equivalentes.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 construyendo SaludEC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11228832" cy="1234440"/>
          </a:xfrm>
          <a:prstGeom prst="roundRect">
            <a:avLst>
              <a:gd name="adj" fmla="val 8889"/>
            </a:avLst>
          </a:prstGeom>
          <a:solidFill>
            <a:srgbClr val="1A2E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61288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612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1097280"/>
            <a:ext cx="9985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 WCAG 2.2 AA alcanzada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463040"/>
            <a:ext cx="9985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DevTools 0 violaciones, Lighthouse 92/100, WAVE 0 errores, Pa11y 0 errores reales. De 33 criterios evaluados, 32 están implementados. La accesibilidad se construyó desde el día 1, no como un añadido final.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377440"/>
            <a:ext cx="11228832" cy="1234440"/>
          </a:xfrm>
          <a:prstGeom prst="roundRect">
            <a:avLst>
              <a:gd name="adj" fmla="val 8889"/>
            </a:avLst>
          </a:prstGeom>
          <a:solidFill>
            <a:srgbClr val="1A2E42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532888"/>
            <a:ext cx="914400" cy="9144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32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🛠️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2468880"/>
            <a:ext cx="9985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automáticas no son suficientes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9985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y Lighthouse detectan el 30–40% de los problemas. El bug de focus management en PageWrapper (WCAG 2.4.3) lo encontró la revisión manual, no ninguna herramienta. Pa11y reveló 7 issues de contraste que axe no marcó.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749040"/>
            <a:ext cx="11228832" cy="1234440"/>
          </a:xfrm>
          <a:prstGeom prst="roundRect">
            <a:avLst>
              <a:gd name="adj" fmla="val 8889"/>
            </a:avLst>
          </a:prstGeom>
          <a:solidFill>
            <a:srgbClr val="1A2E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904488"/>
            <a:ext cx="914400" cy="9144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9044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3840480"/>
            <a:ext cx="9985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+ sprints cortos = calidad real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206240"/>
            <a:ext cx="9985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división en Historias de Usuario con criterios de aceptación WCAG permitió medir el progreso objetivamente. Sprint 2 cerró con 7 correcciones de contraste, vídeo accesible, focus management y declaración de accesibilidad.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5120640"/>
            <a:ext cx="11228832" cy="1234440"/>
          </a:xfrm>
          <a:prstGeom prst="roundRect">
            <a:avLst>
              <a:gd name="adj" fmla="val 8889"/>
            </a:avLst>
          </a:prstGeom>
          <a:solidFill>
            <a:srgbClr val="1A2E42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5276088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2760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♿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63040" y="5212080"/>
            <a:ext cx="9985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como equidad digital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5577840"/>
            <a:ext cx="9985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técnica — es asegurar que un adulto mayor con baja visión, un usuario de teclado, o alguien en zona rural con conexión lenta pueda acceder a sus derechos de salud. Eso es lo que SaludEC resuelve.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3200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-457200"/>
            <a:ext cx="4572000" cy="4572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7432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🏥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1508760"/>
            <a:ext cx="1219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SaludEC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0" y="2423160"/>
            <a:ext cx="1219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Servicios Públicos de Salud del Ecuador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3200400"/>
            <a:ext cx="12192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3383280"/>
            <a:ext cx="1219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vitaprevent-b2e34.web.app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3858768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github.com/zeuspyEC/SaludEC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4572000"/>
            <a:ext cx="2743200" cy="1508760"/>
          </a:xfrm>
          <a:prstGeom prst="roundRect">
            <a:avLst>
              <a:gd name="adj" fmla="val 7273"/>
            </a:avLst>
          </a:prstGeom>
          <a:solidFill>
            <a:srgbClr val="1A2E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4663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Costa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920240" y="5010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· WCAG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20240" y="5285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zeuspyEC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598932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4572000"/>
            <a:ext cx="2743200" cy="1508760"/>
          </a:xfrm>
          <a:prstGeom prst="roundRect">
            <a:avLst>
              <a:gd name="adj" fmla="val 7273"/>
            </a:avLst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4663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Tipán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20640" y="5010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 · Frontend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20640" y="5285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michaelTipan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598932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4572000"/>
            <a:ext cx="2743200" cy="1508760"/>
          </a:xfrm>
          <a:prstGeom prst="roundRect">
            <a:avLst>
              <a:gd name="adj" fmla="val 7273"/>
            </a:avLst>
          </a:prstGeom>
          <a:solidFill>
            <a:srgbClr val="1A2E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4663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Quilumba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21040" y="5010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· Informe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21040" y="5285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Javier Q.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0" y="59893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6236208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Politécnica Nacional · Usabilidad y Accesibilidad ISWD732 · GR3SW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SaludEC — Portal de Servicios Públicos de Salud del Ecuador</dc:title>
  <dc:subject>Usabilidad y Accesibilidad ISWD732 — EPN 2026</dc:subject>
  <dc:creator>Erick Costa, Jonathan Tipán, Javier Quilumba</dc:creator>
  <cp:lastModifiedBy>Erick Costa, Jonathan Tipán, Javier Quilumba</cp:lastModifiedBy>
  <cp:revision>1</cp:revision>
  <dcterms:created xsi:type="dcterms:W3CDTF">2026-07-13T20:16:04Z</dcterms:created>
  <dcterms:modified xsi:type="dcterms:W3CDTF">2026-07-13T20:16:04Z</dcterms:modified>
</cp:coreProperties>
</file>