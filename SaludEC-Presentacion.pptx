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vitaprevent-b2e34.web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97280" y="-1097280"/>
            <a:ext cx="5943600" cy="5943600"/>
          </a:xfrm>
          <a:prstGeom prst="ellipse">
            <a:avLst/>
          </a:prstGeom>
          <a:solidFill>
            <a:srgbClr val="0891B2">
              <a:alpha val="20000"/>
            </a:srgbClr>
          </a:solidFill>
          <a:ln w="12700">
            <a:solidFill>
              <a:srgbClr val="0891B2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0" y="4114800"/>
            <a:ext cx="3657600" cy="3657600"/>
          </a:xfrm>
          <a:prstGeom prst="ellipse">
            <a:avLst/>
          </a:prstGeom>
          <a:solidFill>
            <a:srgbClr val="0891B2">
              <a:alpha val="15000"/>
            </a:srgbClr>
          </a:solidFill>
          <a:ln w="12700">
            <a:solidFill>
              <a:srgbClr val="0891B2">
                <a:alpha val="1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57200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dirty="0">
                <a:solidFill>
                  <a:srgbClr val="000000"/>
                </a:solidFill>
              </a:rPr>
              <a:t>🏥</a:t>
            </a:r>
            <a:endParaRPr lang="en-US" sz="7200" dirty="0"/>
          </a:p>
        </p:txBody>
      </p:sp>
      <p:sp>
        <p:nvSpPr>
          <p:cNvPr id="7" name="Shape 5"/>
          <p:cNvSpPr/>
          <p:nvPr/>
        </p:nvSpPr>
        <p:spPr>
          <a:xfrm>
            <a:off x="228600" y="2423160"/>
            <a:ext cx="3931920" cy="347472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242316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ISWD732 — Usabilidad y Accesibilidad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0040" y="2926080"/>
            <a:ext cx="658368" cy="658368"/>
          </a:xfrm>
          <a:prstGeom prst="ellipse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8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292608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78992" y="29260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Erick Costa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78992" y="3236976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Coordinador · Evaluador WCAG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" y="4005072"/>
            <a:ext cx="658368" cy="658368"/>
          </a:xfrm>
          <a:prstGeom prst="ellipse">
            <a:avLst/>
          </a:prstGeom>
          <a:solidFill>
            <a:srgbClr val="00B4D8">
              <a:alpha val="80000"/>
            </a:srgbClr>
          </a:solidFill>
          <a:ln w="12700">
            <a:solidFill>
              <a:srgbClr val="00B4D8">
                <a:alpha val="8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4005072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78992" y="400507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Jonathan Tipán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078992" y="4315968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Diseñador UI · Frontend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0040" y="5084064"/>
            <a:ext cx="658368" cy="658368"/>
          </a:xfrm>
          <a:prstGeom prst="ellipse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F59E0B">
                <a:alpha val="8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5084064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JQ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78992" y="5084064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Javier Quilumba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078992" y="53949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Desarrollador · Redactor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8600" y="63093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Escuela Politécnica Nacional · GR3SW · Julio 2026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663440" y="1097280"/>
            <a:ext cx="6766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Salud</a:t>
            </a:r>
            <a:endParaRPr lang="en-US" sz="7200" dirty="0"/>
          </a:p>
        </p:txBody>
      </p:sp>
      <p:sp>
        <p:nvSpPr>
          <p:cNvPr id="23" name="Text 21"/>
          <p:cNvSpPr/>
          <p:nvPr/>
        </p:nvSpPr>
        <p:spPr>
          <a:xfrm>
            <a:off x="7132320" y="1097280"/>
            <a:ext cx="4297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</a:t>
            </a:r>
            <a:endParaRPr lang="en-US" sz="7200" dirty="0"/>
          </a:p>
        </p:txBody>
      </p:sp>
      <p:sp>
        <p:nvSpPr>
          <p:cNvPr id="24" name="Text 22"/>
          <p:cNvSpPr/>
          <p:nvPr/>
        </p:nvSpPr>
        <p:spPr>
          <a:xfrm>
            <a:off x="4663440" y="2240280"/>
            <a:ext cx="7132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de Servicios Públicos de Salud del Ecuador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4663440" y="2971800"/>
            <a:ext cx="6675120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63440" y="3127248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académico desarrollado en la EPN para la asignatura Usabilidad y Accesibilidad. Portal web WCAG 2.2 Nivel AA con información oficial del MSP, IESS, ECU 911 y OPS Ecuador.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4663440" y="429768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1A2E4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63440" y="4315968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663440" y="4773168"/>
            <a:ext cx="15727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419088" y="429768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1A2E4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19088" y="4315968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6419088" y="4773168"/>
            <a:ext cx="15727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WCAG 2.2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174736" y="429768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1A2E4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174736" y="4315968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8174736" y="4773168"/>
            <a:ext cx="15727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9930384" y="429768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1A2E4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30384" y="4315968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9930384" y="4773168"/>
            <a:ext cx="15727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 errors</a:t>
            </a:r>
            <a:endParaRPr lang="en-US" sz="950" dirty="0"/>
          </a:p>
        </p:txBody>
      </p:sp>
      <p:sp>
        <p:nvSpPr>
          <p:cNvPr id="39" name="Text 37">
            <a:hlinkClick r:id="rId1" tooltip=""/>
          </p:cNvPr>
          <p:cNvSpPr/>
          <p:nvPr/>
        </p:nvSpPr>
        <p:spPr>
          <a:xfrm>
            <a:off x="4663440" y="5577840"/>
            <a:ext cx="7132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u="sng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vitaprevent-b2e34.web.app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256032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SALUDEC?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109728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que resolvemos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5669280" cy="1051560"/>
          </a:xfrm>
          <a:prstGeom prst="roundRect">
            <a:avLst>
              <a:gd name="adj" fmla="val 8696"/>
            </a:avLst>
          </a:prstGeom>
          <a:solidFill>
            <a:srgbClr val="1A2E42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78992"/>
            <a:ext cx="731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🔍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325880" y="109728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información oficial del MSP, IESS y ECU 911 está dispersa en múltiples portales sin cohesión.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240280"/>
            <a:ext cx="5669280" cy="1051560"/>
          </a:xfrm>
          <a:prstGeom prst="roundRect">
            <a:avLst>
              <a:gd name="adj" fmla="val 8696"/>
            </a:avLst>
          </a:prstGeom>
          <a:solidFill>
            <a:srgbClr val="1A2E42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313432"/>
            <a:ext cx="731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📱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325880" y="233172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Portales gubernamentales poco optimizados para móvil — el 74% del tráfico en Ecuador es móvil.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474720"/>
            <a:ext cx="5669280" cy="1051560"/>
          </a:xfrm>
          <a:prstGeom prst="roundRect">
            <a:avLst>
              <a:gd name="adj" fmla="val 8696"/>
            </a:avLst>
          </a:prstGeom>
          <a:solidFill>
            <a:srgbClr val="1A2E42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547872"/>
            <a:ext cx="731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♿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325880" y="356616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Barreras de accesibilidad que excluyen a personas con discapacidad, adultos mayores y usuarios rurales.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4709160"/>
            <a:ext cx="5669280" cy="1051560"/>
          </a:xfrm>
          <a:prstGeom prst="roundRect">
            <a:avLst>
              <a:gd name="adj" fmla="val 8696"/>
            </a:avLst>
          </a:prstGeom>
          <a:solidFill>
            <a:srgbClr val="1A2E42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4782312"/>
            <a:ext cx="731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🌐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325880" y="480060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Ausencia de un punto único de acceso a todos los servicios públicos de salud en un solo portal accesible.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914400"/>
            <a:ext cx="5303520" cy="5669280"/>
          </a:xfrm>
          <a:prstGeom prst="roundRect">
            <a:avLst>
              <a:gd name="adj" fmla="val 2414"/>
            </a:avLst>
          </a:prstGeom>
          <a:solidFill>
            <a:srgbClr val="1A2E42"/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37960" y="10058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Ecuador 2024–2026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492240" y="1554480"/>
            <a:ext cx="164592" cy="6400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0" y="157276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3.279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766560" y="1883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establecimientos de salud pública (MSP 2023)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92240" y="2450592"/>
            <a:ext cx="164592" cy="6400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0" y="24688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766560" y="277977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vacunación infantil nacional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92240" y="3346704"/>
            <a:ext cx="164592" cy="6400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0" y="336499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17.8M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766560" y="36758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externas en el IESS (2024)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92240" y="4242816"/>
            <a:ext cx="164592" cy="6400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0" y="426110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4.4M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766560" y="4572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llamadas al ECU 911 atendidas (2023)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492240" y="5138928"/>
            <a:ext cx="164592" cy="6400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66560" y="515721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6766560" y="546811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tráfico web en Ecuador desde móvil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256032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PROPÓSITO DEL PROYECTO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109728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Misión · Visión · Objetivo General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1565C0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960120"/>
            <a:ext cx="1645920" cy="1600200"/>
          </a:xfrm>
          <a:prstGeom prst="roundRect">
            <a:avLst>
              <a:gd name="adj" fmla="val 6857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960120"/>
            <a:ext cx="16459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MISIÓN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148840" y="1051560"/>
            <a:ext cx="9144000" cy="1389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Centralizar y comunicar de forma accesible la información oficial sobre los servicios públicos de salud del Ecuador — MSP, IESS y ECU 911 — para que cualquier ciudadano, independientemente de su capacidad o dispositivo, pueda conocer y ejercer su derecho a la salud.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274320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1A2E42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2743200"/>
            <a:ext cx="1645920" cy="1600200"/>
          </a:xfrm>
          <a:prstGeom prst="roundRect">
            <a:avLst>
              <a:gd name="adj" fmla="val 6857"/>
            </a:avLst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743200"/>
            <a:ext cx="16459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🔭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148840" y="2834640"/>
            <a:ext cx="9144000" cy="1389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 el portal de referencia en servicios públicos de salud del Ecuador, reconocido por la fiabilidad de sus fuentes oficiales, su plena conformidad con WCAG 2.2 Nivel AA y su compromiso con la equidad digital para todos los ciudadanos ecuatorianos.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45262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0A2A0A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4526280"/>
            <a:ext cx="1645920" cy="1600200"/>
          </a:xfrm>
          <a:prstGeom prst="roundRect">
            <a:avLst>
              <a:gd name="adj" fmla="val 6857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4526280"/>
            <a:ext cx="16459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148840" y="4617720"/>
            <a:ext cx="9144000" cy="1389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Diseñar, implementar y evaluar un portal web accesible (WCAG 2.2 AA) que centralice información oficial de salud pública del Ecuador, aplicando los principios de usabilidad y accesibilidad web aprendidos en la asignatura ISWD732 de la Escuela Politécnica Nacional.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256032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109728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Específicos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5486400" cy="1572768"/>
          </a:xfrm>
          <a:prstGeom prst="roundRect">
            <a:avLst>
              <a:gd name="adj" fmla="val 6977"/>
            </a:avLst>
          </a:prstGeom>
          <a:solidFill>
            <a:srgbClr val="1A2E42"/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960120"/>
            <a:ext cx="1417320" cy="1572768"/>
          </a:xfrm>
          <a:prstGeom prst="roundRect">
            <a:avLst>
              <a:gd name="adj" fmla="val 7742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960120"/>
            <a:ext cx="1417320" cy="1572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874520" y="1069848"/>
            <a:ext cx="38587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accesible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74520" y="1399032"/>
            <a:ext cx="385876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una SPA en React 19 + Vite 6 con rutas semánticas, lazy loading, focus management y skip-links que garanticen navegación por teclado y lectores de pantalla.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35040" y="960120"/>
            <a:ext cx="5486400" cy="1572768"/>
          </a:xfrm>
          <a:prstGeom prst="roundRect">
            <a:avLst>
              <a:gd name="adj" fmla="val 6977"/>
            </a:avLst>
          </a:prstGeom>
          <a:solidFill>
            <a:srgbClr val="1A2E42"/>
          </a:solidFill>
          <a:ln w="19050">
            <a:solidFill>
              <a:srgbClr val="1565C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5040" y="960120"/>
            <a:ext cx="1417320" cy="1572768"/>
          </a:xfrm>
          <a:prstGeom prst="roundRect">
            <a:avLst>
              <a:gd name="adj" fmla="val 7742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0" y="960120"/>
            <a:ext cx="1417320" cy="1572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543800" y="1069848"/>
            <a:ext cx="38587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oficial verificado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543800" y="1399032"/>
            <a:ext cx="385876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Centralizar información oficial del MSP, IESS, ECU 911 y OPS en módulos temáticos (Atención Primaria, Vacunación, Salud Mental, Emergencias, Nutrición, Actividad Física).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2679192"/>
            <a:ext cx="5486400" cy="1572768"/>
          </a:xfrm>
          <a:prstGeom prst="roundRect">
            <a:avLst>
              <a:gd name="adj" fmla="val 6977"/>
            </a:avLst>
          </a:prstGeom>
          <a:solidFill>
            <a:srgbClr val="1A2E42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679192"/>
            <a:ext cx="1417320" cy="1572768"/>
          </a:xfrm>
          <a:prstGeom prst="roundRect">
            <a:avLst>
              <a:gd name="adj" fmla="val 7742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679192"/>
            <a:ext cx="1417320" cy="1572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♿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874520" y="2788920"/>
            <a:ext cx="38587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Conformidad WCAG 2.2 AA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74520" y="3118104"/>
            <a:ext cx="385876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Alcanzar conformidad sustancial con los 4 principios POUR (Perceptible, Operable, Comprensible, Robusto) y validar con axe DevTools, Lighthouse, WAVE y Pa11y.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035040" y="2679192"/>
            <a:ext cx="5486400" cy="1572768"/>
          </a:xfrm>
          <a:prstGeom prst="roundRect">
            <a:avLst>
              <a:gd name="adj" fmla="val 6977"/>
            </a:avLst>
          </a:prstGeom>
          <a:solidFill>
            <a:srgbClr val="1A2E42"/>
          </a:solidFill>
          <a:ln w="19050">
            <a:solidFill>
              <a:srgbClr val="EA580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35040" y="2679192"/>
            <a:ext cx="1417320" cy="1572768"/>
          </a:xfrm>
          <a:prstGeom prst="roundRect">
            <a:avLst>
              <a:gd name="adj" fmla="val 7742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35040" y="2679192"/>
            <a:ext cx="1417320" cy="1572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543800" y="2788920"/>
            <a:ext cx="38587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Firebase en tiempo real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543800" y="3118104"/>
            <a:ext cx="385876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Firebase Firestore para gestión de artículos, noticias y recursos; Firebase Auth para panel administrativo; Firebase Hosting para despliegue continuo.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65760" y="4398264"/>
            <a:ext cx="5486400" cy="1572768"/>
          </a:xfrm>
          <a:prstGeom prst="roundRect">
            <a:avLst>
              <a:gd name="adj" fmla="val 6977"/>
            </a:avLst>
          </a:prstGeom>
          <a:solidFill>
            <a:srgbClr val="1A2E42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4398264"/>
            <a:ext cx="1417320" cy="1572768"/>
          </a:xfrm>
          <a:prstGeom prst="roundRect">
            <a:avLst>
              <a:gd name="adj" fmla="val 7742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98264"/>
            <a:ext cx="1417320" cy="1572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874520" y="4507992"/>
            <a:ext cx="38587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responsive desde 320px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874520" y="4837176"/>
            <a:ext cx="385876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Garantizar funcionalidad completa en dispositivos móviles (320px–1440px+) con CSS Custom Properties, diseño token-based y compatibilidad con modo oscuro del sistema.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035040" y="4398264"/>
            <a:ext cx="5486400" cy="1572768"/>
          </a:xfrm>
          <a:prstGeom prst="roundRect">
            <a:avLst>
              <a:gd name="adj" fmla="val 6977"/>
            </a:avLst>
          </a:prstGeom>
          <a:solidFill>
            <a:srgbClr val="1A2E42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35040" y="4398264"/>
            <a:ext cx="1417320" cy="1572768"/>
          </a:xfrm>
          <a:prstGeom prst="roundRect">
            <a:avLst>
              <a:gd name="adj" fmla="val 7742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35040" y="4398264"/>
            <a:ext cx="1417320" cy="1572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OE6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543800" y="4507992"/>
            <a:ext cx="38587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técnica completa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543800" y="4837176"/>
            <a:ext cx="385876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Producir informe técnico, declaración de accesibilidad, metodología XP, evidencias POUR y arquitectura del sistema en documentos LaTeX compilados en PDF.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256032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109728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Equipo de Desarrollo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292608" y="960120"/>
            <a:ext cx="3749040" cy="5669280"/>
          </a:xfrm>
          <a:prstGeom prst="roundRect">
            <a:avLst>
              <a:gd name="adj" fmla="val 3659"/>
            </a:avLst>
          </a:prstGeom>
          <a:solidFill>
            <a:srgbClr val="0A2235"/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2608" y="960120"/>
            <a:ext cx="3749040" cy="1874520"/>
          </a:xfrm>
          <a:prstGeom prst="roundRect">
            <a:avLst>
              <a:gd name="adj" fmla="val 7317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27048" y="1051560"/>
            <a:ext cx="1280160" cy="1280160"/>
          </a:xfrm>
          <a:prstGeom prst="ellipse">
            <a:avLst/>
          </a:prstGeom>
          <a:solidFill>
            <a:srgbClr val="0D1B2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27048" y="1051560"/>
            <a:ext cx="1280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84048" y="242316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Erick Costa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84048" y="27432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Coordinador del Proyecto · Evaluador de Accesibilidad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" y="32004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github: zeuspyEC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3566160"/>
            <a:ext cx="3429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Gestión de la arquitectura Firebase (Firestore, Auth, Hosting)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4059936"/>
            <a:ext cx="3429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Evaluación de conformidad WCAG 2.2 AA con herramientas automáticas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57200" y="4553712"/>
            <a:ext cx="3429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Implementación de focus management, skip-links y ARIA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7200" y="5047488"/>
            <a:ext cx="3429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Configuración CI/CD con GitHub Actions y Firebase deploy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7200" y="5541264"/>
            <a:ext cx="3429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Redacción de la declaración de accesibilidad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6080760"/>
            <a:ext cx="804672" cy="256032"/>
          </a:xfrm>
          <a:prstGeom prst="roundRect">
            <a:avLst>
              <a:gd name="adj" fmla="val 50000"/>
            </a:avLst>
          </a:prstGeom>
          <a:solidFill>
            <a:srgbClr val="0891B2">
              <a:alpha val="70000"/>
            </a:srgb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080760"/>
            <a:ext cx="804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335024" y="6080760"/>
            <a:ext cx="804672" cy="256032"/>
          </a:xfrm>
          <a:prstGeom prst="roundRect">
            <a:avLst>
              <a:gd name="adj" fmla="val 50000"/>
            </a:avLst>
          </a:prstGeom>
          <a:solidFill>
            <a:srgbClr val="0891B2">
              <a:alpha val="70000"/>
            </a:srgb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35024" y="6080760"/>
            <a:ext cx="804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2212848" y="6080760"/>
            <a:ext cx="804672" cy="256032"/>
          </a:xfrm>
          <a:prstGeom prst="roundRect">
            <a:avLst>
              <a:gd name="adj" fmla="val 50000"/>
            </a:avLst>
          </a:prstGeom>
          <a:solidFill>
            <a:srgbClr val="0891B2">
              <a:alpha val="70000"/>
            </a:srgb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12848" y="6080760"/>
            <a:ext cx="804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WCAG 2.2 AA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090672" y="6080760"/>
            <a:ext cx="804672" cy="256032"/>
          </a:xfrm>
          <a:prstGeom prst="roundRect">
            <a:avLst>
              <a:gd name="adj" fmla="val 50000"/>
            </a:avLst>
          </a:prstGeom>
          <a:solidFill>
            <a:srgbClr val="0891B2">
              <a:alpha val="70000"/>
            </a:srgb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090672" y="6080760"/>
            <a:ext cx="804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axe/Pa11y/WAVE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197096" y="960120"/>
            <a:ext cx="3749040" cy="5669280"/>
          </a:xfrm>
          <a:prstGeom prst="roundRect">
            <a:avLst>
              <a:gd name="adj" fmla="val 3659"/>
            </a:avLst>
          </a:prstGeom>
          <a:solidFill>
            <a:srgbClr val="0A1E2A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197096" y="960120"/>
            <a:ext cx="3749040" cy="1874520"/>
          </a:xfrm>
          <a:prstGeom prst="roundRect">
            <a:avLst>
              <a:gd name="adj" fmla="val 7317"/>
            </a:avLst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31536" y="1051560"/>
            <a:ext cx="1280160" cy="1280160"/>
          </a:xfrm>
          <a:prstGeom prst="ellipse">
            <a:avLst/>
          </a:prstGeom>
          <a:solidFill>
            <a:srgbClr val="0D1B2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31536" y="1051560"/>
            <a:ext cx="1280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JT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4288536" y="242316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Jonathan Tipán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288536" y="27432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Diseñador UI/UX · Desarrollador Frontend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288536" y="32004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github: michaelTipan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361688" y="3566160"/>
            <a:ext cx="3429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Sistema de diseño "Ocean Breeze" con CSS Custom Properties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361688" y="4059936"/>
            <a:ext cx="3429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Componentes accesibles: Navbar, Footer, Breadcrumb, Modal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361688" y="4553712"/>
            <a:ext cx="3429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Diseño responsive desde 320px con CSS Grid y Flexbox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361688" y="5047488"/>
            <a:ext cx="3429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Implementación de tokens de color con contraste WCAG AA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361688" y="5541264"/>
            <a:ext cx="3429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Dark mode y animaciones respetando prefers-reduced-motion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361688" y="6080760"/>
            <a:ext cx="804672" cy="256032"/>
          </a:xfrm>
          <a:prstGeom prst="roundRect">
            <a:avLst>
              <a:gd name="adj" fmla="val 50000"/>
            </a:avLst>
          </a:prstGeom>
          <a:solidFill>
            <a:srgbClr val="00B4D8">
              <a:alpha val="70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61688" y="6080760"/>
            <a:ext cx="804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Tokens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239512" y="6080760"/>
            <a:ext cx="804672" cy="256032"/>
          </a:xfrm>
          <a:prstGeom prst="roundRect">
            <a:avLst>
              <a:gd name="adj" fmla="val 50000"/>
            </a:avLst>
          </a:prstGeom>
          <a:solidFill>
            <a:srgbClr val="00B4D8">
              <a:alpha val="70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39512" y="6080760"/>
            <a:ext cx="804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WAI-ARIA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117336" y="6080760"/>
            <a:ext cx="804672" cy="256032"/>
          </a:xfrm>
          <a:prstGeom prst="roundRect">
            <a:avLst>
              <a:gd name="adj" fmla="val 50000"/>
            </a:avLst>
          </a:prstGeom>
          <a:solidFill>
            <a:srgbClr val="00B4D8">
              <a:alpha val="70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17336" y="6080760"/>
            <a:ext cx="804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UX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6995160" y="6080760"/>
            <a:ext cx="804672" cy="256032"/>
          </a:xfrm>
          <a:prstGeom prst="roundRect">
            <a:avLst>
              <a:gd name="adj" fmla="val 50000"/>
            </a:avLst>
          </a:prstGeom>
          <a:solidFill>
            <a:srgbClr val="00B4D8">
              <a:alpha val="70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995160" y="6080760"/>
            <a:ext cx="804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8101584" y="960120"/>
            <a:ext cx="3749040" cy="5669280"/>
          </a:xfrm>
          <a:prstGeom prst="roundRect">
            <a:avLst>
              <a:gd name="adj" fmla="val 3659"/>
            </a:avLst>
          </a:prstGeom>
          <a:solidFill>
            <a:srgbClr val="0F0A2A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01584" y="960120"/>
            <a:ext cx="3749040" cy="1874520"/>
          </a:xfrm>
          <a:prstGeom prst="roundRect">
            <a:avLst>
              <a:gd name="adj" fmla="val 731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36024" y="1051560"/>
            <a:ext cx="1280160" cy="1280160"/>
          </a:xfrm>
          <a:prstGeom prst="ellipse">
            <a:avLst/>
          </a:prstGeom>
          <a:solidFill>
            <a:srgbClr val="0D1B2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336024" y="1051560"/>
            <a:ext cx="1280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JQ</a:t>
            </a:r>
            <a:endParaRPr lang="en-US" sz="2600" dirty="0"/>
          </a:p>
        </p:txBody>
      </p:sp>
      <p:sp>
        <p:nvSpPr>
          <p:cNvPr id="51" name="Text 49"/>
          <p:cNvSpPr/>
          <p:nvPr/>
        </p:nvSpPr>
        <p:spPr>
          <a:xfrm>
            <a:off x="8193024" y="242316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Javier Quilumba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8193024" y="27432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Desarrollador Frontend · Redactor del Informe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8193024" y="32004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github: Javier Q.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8266176" y="3566160"/>
            <a:ext cx="3429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Implementación de servicios Firestore (artículos, noticias, recursos)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8266176" y="4059936"/>
            <a:ext cx="3429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Panel administrativo con CRUD completo y autenticación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8266176" y="4553712"/>
            <a:ext cx="3429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Módulos de contenido (Nutrición, Salud Mental, Prevención)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8266176" y="5047488"/>
            <a:ext cx="3429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Redacción del informe técnico en LaTeX y metodología XP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8266176" y="5541264"/>
            <a:ext cx="3429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Formulario de contacto con validación y notificaciones admin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8266176" y="6080760"/>
            <a:ext cx="804672" cy="256032"/>
          </a:xfrm>
          <a:prstGeom prst="roundRect">
            <a:avLst>
              <a:gd name="adj" fmla="val 50000"/>
            </a:avLst>
          </a:prstGeom>
          <a:solidFill>
            <a:srgbClr val="7C3AED">
              <a:alpha val="70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266176" y="6080760"/>
            <a:ext cx="804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Firestore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9144000" y="6080760"/>
            <a:ext cx="804672" cy="256032"/>
          </a:xfrm>
          <a:prstGeom prst="roundRect">
            <a:avLst>
              <a:gd name="adj" fmla="val 50000"/>
            </a:avLst>
          </a:prstGeom>
          <a:solidFill>
            <a:srgbClr val="7C3AED">
              <a:alpha val="70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144000" y="6080760"/>
            <a:ext cx="804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Panel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10021824" y="6080760"/>
            <a:ext cx="804672" cy="256032"/>
          </a:xfrm>
          <a:prstGeom prst="roundRect">
            <a:avLst>
              <a:gd name="adj" fmla="val 50000"/>
            </a:avLst>
          </a:prstGeom>
          <a:solidFill>
            <a:srgbClr val="7C3AED">
              <a:alpha val="70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021824" y="6080760"/>
            <a:ext cx="804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LaTeX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10899648" y="6080760"/>
            <a:ext cx="804672" cy="256032"/>
          </a:xfrm>
          <a:prstGeom prst="roundRect">
            <a:avLst>
              <a:gd name="adj" fmla="val 50000"/>
            </a:avLst>
          </a:prstGeom>
          <a:solidFill>
            <a:srgbClr val="7C3AED">
              <a:alpha val="70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899648" y="6080760"/>
            <a:ext cx="804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XP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256032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109728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 XP (Extreme Programming)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1A2E4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05840"/>
            <a:ext cx="10835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adoptó eXtreme Programming (XP) por su énfasis en ciclos cortos de entrega, retroalimentación continua y calidad técnica. Las 27 Historias de Usuario se organizaron en 2 Sprints con criterios de aceptación medibles vinculados directamente a criterios WCAG 2.2.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65760" y="1965960"/>
            <a:ext cx="3749040" cy="4681728"/>
          </a:xfrm>
          <a:prstGeom prst="roundRect">
            <a:avLst>
              <a:gd name="adj" fmla="val 2927"/>
            </a:avLst>
          </a:prstGeom>
          <a:solidFill>
            <a:srgbClr val="1A2E42"/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965960"/>
            <a:ext cx="3749040" cy="960120"/>
          </a:xfrm>
          <a:prstGeom prst="roundRect">
            <a:avLst>
              <a:gd name="adj" fmla="val 11429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993392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Sprint 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2395728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Mayo–Junio 2026  ·  32 pts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02920" y="303580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HU-01 al HU-22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3602736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10 páginas públicas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2920" y="4169664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Navbar, Footer, Breadcrumb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02920" y="4736592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Firebase integrado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2920" y="53035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Panel admin CRUD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587044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Sistema de diseño Ocean Breeze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270248" y="1965960"/>
            <a:ext cx="3749040" cy="4681728"/>
          </a:xfrm>
          <a:prstGeom prst="roundRect">
            <a:avLst>
              <a:gd name="adj" fmla="val 2927"/>
            </a:avLst>
          </a:prstGeom>
          <a:solidFill>
            <a:srgbClr val="1A2E42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70248" y="1965960"/>
            <a:ext cx="3749040" cy="960120"/>
          </a:xfrm>
          <a:prstGeom prst="roundRect">
            <a:avLst>
              <a:gd name="adj" fmla="val 1142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61688" y="1993392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Sprint 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361688" y="2395728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2026  ·  22 pts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407408" y="303580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HU-23 al HU-27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07408" y="3602736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Video accesible + subtítulos VTT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407408" y="4169664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Contraste WCAG 1.4.3 (7 correcciones)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407408" y="4736592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Declaración de accesibilidad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407408" y="53035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Focus management corregido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407408" y="587044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Pa11y 0 errores reales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174736" y="1965960"/>
            <a:ext cx="3749040" cy="4681728"/>
          </a:xfrm>
          <a:prstGeom prst="roundRect">
            <a:avLst>
              <a:gd name="adj" fmla="val 2927"/>
            </a:avLst>
          </a:prstGeom>
          <a:solidFill>
            <a:srgbClr val="1A2E42"/>
          </a:solidFill>
          <a:ln w="19050">
            <a:solidFill>
              <a:srgbClr val="EA580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74736" y="1965960"/>
            <a:ext cx="3749040" cy="960120"/>
          </a:xfrm>
          <a:prstGeom prst="roundRect">
            <a:avLst>
              <a:gd name="adj" fmla="val 11429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66176" y="1993392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Sprint 3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266176" y="2395728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Agosto 2026  ·  En curso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311896" y="303580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ARIA 4.1.2 corregido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311896" y="3602736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CLS optimizado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311896" y="4169664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Seguridad HTTP headers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311896" y="4736592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Alternativa cubo WCAG 2.5.7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8311896" y="53035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Redirect 301 /biblioteca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311896" y="587044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sitemap.xml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365760" y="6492240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1565C0">
              <a:alpha val="70000"/>
            </a:srgbClr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6492240"/>
            <a:ext cx="20848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Iteraciones cortas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96896" y="6492240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1565C0">
              <a:alpha val="70000"/>
            </a:srgbClr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96896" y="6492240"/>
            <a:ext cx="20848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TDD implícito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28032" y="6492240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1565C0">
              <a:alpha val="70000"/>
            </a:srgbClr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28032" y="6492240"/>
            <a:ext cx="20848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Comunicación continua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059168" y="6492240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1565C0">
              <a:alpha val="70000"/>
            </a:srgbClr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059168" y="6492240"/>
            <a:ext cx="20848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Revisión de código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9290304" y="6492240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1565C0">
              <a:alpha val="70000"/>
            </a:srgbClr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290304" y="6492240"/>
            <a:ext cx="20848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Integración continua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256032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109728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y Stack Tecnológico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20040" y="1005840"/>
            <a:ext cx="11247120" cy="1261872"/>
          </a:xfrm>
          <a:prstGeom prst="roundRect">
            <a:avLst>
              <a:gd name="adj" fmla="val 7246"/>
            </a:avLst>
          </a:prstGeom>
          <a:solidFill>
            <a:srgbClr val="1A2E42"/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05840"/>
            <a:ext cx="2011680" cy="1261872"/>
          </a:xfrm>
          <a:prstGeom prst="roundRect">
            <a:avLst>
              <a:gd name="adj" fmla="val 7246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005840"/>
            <a:ext cx="2011680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68880" y="1261872"/>
            <a:ext cx="217627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React 19 · Vite 6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709160" y="1261872"/>
            <a:ext cx="217627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CSS Custom Properties (tokens)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949440" y="1261872"/>
            <a:ext cx="217627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React Router v6 · lazy loading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189720" y="1261872"/>
            <a:ext cx="217627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React Suspense + Skeleton loaders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1188720"/>
            <a:ext cx="0" cy="868680"/>
          </a:xfrm>
          <a:prstGeom prst="line">
            <a:avLst/>
          </a:prstGeom>
          <a:noFill/>
          <a:ln w="6350">
            <a:solidFill>
              <a:srgbClr val="0891B2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6858000" y="1188720"/>
            <a:ext cx="0" cy="868680"/>
          </a:xfrm>
          <a:prstGeom prst="line">
            <a:avLst/>
          </a:prstGeom>
          <a:noFill/>
          <a:ln w="6350">
            <a:solidFill>
              <a:srgbClr val="0891B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9098280" y="1188720"/>
            <a:ext cx="0" cy="868680"/>
          </a:xfrm>
          <a:prstGeom prst="line">
            <a:avLst/>
          </a:prstGeom>
          <a:noFill/>
          <a:ln w="6350">
            <a:solidFill>
              <a:srgbClr val="0891B2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320040" y="2395728"/>
            <a:ext cx="11247120" cy="1261872"/>
          </a:xfrm>
          <a:prstGeom prst="roundRect">
            <a:avLst>
              <a:gd name="adj" fmla="val 7246"/>
            </a:avLst>
          </a:prstGeom>
          <a:solidFill>
            <a:srgbClr val="1A2E42"/>
          </a:solidFill>
          <a:ln w="19050">
            <a:solidFill>
              <a:srgbClr val="1565C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2395728"/>
            <a:ext cx="2011680" cy="1261872"/>
          </a:xfrm>
          <a:prstGeom prst="roundRect">
            <a:avLst>
              <a:gd name="adj" fmla="val 7246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2395728"/>
            <a:ext cx="2011680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468880" y="2651760"/>
            <a:ext cx="217627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PageWrapper (focus mgmt)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709160" y="2651760"/>
            <a:ext cx="217627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Navbar · Footer · Breadcrumb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949440" y="2651760"/>
            <a:ext cx="217627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ArticleCard · NewsCard · Modal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189720" y="2651760"/>
            <a:ext cx="217627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SkipLink · Toast · ErrorBoundary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2578608"/>
            <a:ext cx="0" cy="868680"/>
          </a:xfrm>
          <a:prstGeom prst="line">
            <a:avLst/>
          </a:prstGeom>
          <a:noFill/>
          <a:ln w="6350">
            <a:solidFill>
              <a:srgbClr val="1565C0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858000" y="2578608"/>
            <a:ext cx="0" cy="868680"/>
          </a:xfrm>
          <a:prstGeom prst="line">
            <a:avLst/>
          </a:prstGeom>
          <a:noFill/>
          <a:ln w="6350">
            <a:solidFill>
              <a:srgbClr val="1565C0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9098280" y="2578608"/>
            <a:ext cx="0" cy="868680"/>
          </a:xfrm>
          <a:prstGeom prst="line">
            <a:avLst/>
          </a:prstGeom>
          <a:noFill/>
          <a:ln w="6350">
            <a:solidFill>
              <a:srgbClr val="1565C0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320040" y="3785616"/>
            <a:ext cx="11247120" cy="1261872"/>
          </a:xfrm>
          <a:prstGeom prst="roundRect">
            <a:avLst>
              <a:gd name="adj" fmla="val 7246"/>
            </a:avLst>
          </a:prstGeom>
          <a:solidFill>
            <a:srgbClr val="1A2E42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" y="3785616"/>
            <a:ext cx="2011680" cy="1261872"/>
          </a:xfrm>
          <a:prstGeom prst="roundRect">
            <a:avLst>
              <a:gd name="adj" fmla="val 7246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3785616"/>
            <a:ext cx="2011680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468880" y="4041648"/>
            <a:ext cx="217627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articulos.service.js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709160" y="4041648"/>
            <a:ext cx="217627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noticias.service.js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949440" y="4041648"/>
            <a:ext cx="217627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cleanup.service.js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189720" y="4041648"/>
            <a:ext cx="217627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seed.service.js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617720" y="3968496"/>
            <a:ext cx="0" cy="868680"/>
          </a:xfrm>
          <a:prstGeom prst="line">
            <a:avLst/>
          </a:prstGeom>
          <a:noFill/>
          <a:ln w="6350">
            <a:solidFill>
              <a:srgbClr val="7C3AED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858000" y="3968496"/>
            <a:ext cx="0" cy="868680"/>
          </a:xfrm>
          <a:prstGeom prst="line">
            <a:avLst/>
          </a:prstGeom>
          <a:noFill/>
          <a:ln w="6350">
            <a:solidFill>
              <a:srgbClr val="7C3AED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9098280" y="3968496"/>
            <a:ext cx="0" cy="868680"/>
          </a:xfrm>
          <a:prstGeom prst="line">
            <a:avLst/>
          </a:prstGeom>
          <a:noFill/>
          <a:ln w="6350">
            <a:solidFill>
              <a:srgbClr val="7C3AED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320040" y="5175504"/>
            <a:ext cx="11247120" cy="1261872"/>
          </a:xfrm>
          <a:prstGeom prst="roundRect">
            <a:avLst>
              <a:gd name="adj" fmla="val 7246"/>
            </a:avLst>
          </a:prstGeom>
          <a:solidFill>
            <a:srgbClr val="1A2E42"/>
          </a:solidFill>
          <a:ln w="19050">
            <a:solidFill>
              <a:srgbClr val="EA580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" y="5175504"/>
            <a:ext cx="2011680" cy="1261872"/>
          </a:xfrm>
          <a:prstGeom prst="roundRect">
            <a:avLst>
              <a:gd name="adj" fmla="val 7246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040" y="5175504"/>
            <a:ext cx="2011680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/ NUBE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468880" y="5431536"/>
            <a:ext cx="217627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Firebase Firestore (NoSQL)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709160" y="5431536"/>
            <a:ext cx="217627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Firebase Authentication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949440" y="5431536"/>
            <a:ext cx="217627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Firebase Hosting (CDN)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9189720" y="5431536"/>
            <a:ext cx="217627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Security Rules + índices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617720" y="5358384"/>
            <a:ext cx="0" cy="868680"/>
          </a:xfrm>
          <a:prstGeom prst="line">
            <a:avLst/>
          </a:prstGeom>
          <a:noFill/>
          <a:ln w="6350">
            <a:solidFill>
              <a:srgbClr val="EA580C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6858000" y="5358384"/>
            <a:ext cx="0" cy="868680"/>
          </a:xfrm>
          <a:prstGeom prst="line">
            <a:avLst/>
          </a:prstGeom>
          <a:noFill/>
          <a:ln w="6350">
            <a:solidFill>
              <a:srgbClr val="EA580C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9098280" y="5358384"/>
            <a:ext cx="0" cy="868680"/>
          </a:xfrm>
          <a:prstGeom prst="line">
            <a:avLst/>
          </a:prstGeom>
          <a:noFill/>
          <a:ln w="6350">
            <a:solidFill>
              <a:srgbClr val="EA580C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6035040" y="1005840"/>
            <a:ext cx="0" cy="5486400"/>
          </a:xfrm>
          <a:prstGeom prst="line">
            <a:avLst/>
          </a:prstGeom>
          <a:noFill/>
          <a:ln w="6350">
            <a:solidFill>
              <a:srgbClr val="0891B2"/>
            </a:solidFill>
            <a:prstDash val="sysDot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256032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109728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y Rutas del Sitio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47472" y="1005840"/>
            <a:ext cx="2761488" cy="1417320"/>
          </a:xfrm>
          <a:prstGeom prst="roundRect">
            <a:avLst>
              <a:gd name="adj" fmla="val 7742"/>
            </a:avLst>
          </a:prstGeom>
          <a:solidFill>
            <a:srgbClr val="1A2E42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0624" y="1078992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🏠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124712" y="1097280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124712" y="1481328"/>
            <a:ext cx="1874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47472" y="2084832"/>
            <a:ext cx="2761488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" y="2139696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Auth requerida  ·  admin/*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255264" y="1005840"/>
            <a:ext cx="2761488" cy="1417320"/>
          </a:xfrm>
          <a:prstGeom prst="roundRect">
            <a:avLst>
              <a:gd name="adj" fmla="val 7742"/>
            </a:avLst>
          </a:prstGeom>
          <a:solidFill>
            <a:srgbClr val="1A2E42"/>
          </a:solidFill>
          <a:ln w="1524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28416" y="1078992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👥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032504" y="1097280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Nosotros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032504" y="1481328"/>
            <a:ext cx="1874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/nosotros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255264" y="2084832"/>
            <a:ext cx="2761488" cy="36576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46704" y="2139696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Auth requerida  ·  admin/*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6163056" y="1005840"/>
            <a:ext cx="2761488" cy="1417320"/>
          </a:xfrm>
          <a:prstGeom prst="roundRect">
            <a:avLst>
              <a:gd name="adj" fmla="val 7742"/>
            </a:avLst>
          </a:prstGeom>
          <a:solidFill>
            <a:srgbClr val="1A2E42"/>
          </a:solidFill>
          <a:ln w="15240">
            <a:solidFill>
              <a:srgbClr val="16A3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36208" y="1078992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🏥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940296" y="1097280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Primaria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940296" y="1481328"/>
            <a:ext cx="1874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/atencion-primaria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63056" y="2084832"/>
            <a:ext cx="2761488" cy="3657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54496" y="2139696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Auth requerida  ·  admin/*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9070848" y="1005840"/>
            <a:ext cx="2761488" cy="1417320"/>
          </a:xfrm>
          <a:prstGeom prst="roundRect">
            <a:avLst>
              <a:gd name="adj" fmla="val 7742"/>
            </a:avLst>
          </a:prstGeom>
          <a:solidFill>
            <a:srgbClr val="1A2E42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0" y="1078992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🧠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848088" y="1097280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Salud Mental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848088" y="1481328"/>
            <a:ext cx="1874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/salud-mental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9070848" y="2084832"/>
            <a:ext cx="2761488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62288" y="2139696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Auth requerida  ·  admin/*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347472" y="2578608"/>
            <a:ext cx="2761488" cy="1417320"/>
          </a:xfrm>
          <a:prstGeom prst="roundRect">
            <a:avLst>
              <a:gd name="adj" fmla="val 7742"/>
            </a:avLst>
          </a:prstGeom>
          <a:solidFill>
            <a:srgbClr val="1A2E42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0624" y="265176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🥗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124712" y="2670048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Nutrición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124712" y="3054096"/>
            <a:ext cx="1874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/nutricion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47472" y="3657600"/>
            <a:ext cx="2761488" cy="3657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" y="3712464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Auth requerida  ·  admin/*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255264" y="2578608"/>
            <a:ext cx="2761488" cy="1417320"/>
          </a:xfrm>
          <a:prstGeom prst="roundRect">
            <a:avLst>
              <a:gd name="adj" fmla="val 7742"/>
            </a:avLst>
          </a:prstGeom>
          <a:solidFill>
            <a:srgbClr val="1A2E42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28416" y="265176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🏃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4032504" y="2670048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Física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4032504" y="3054096"/>
            <a:ext cx="1874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/actividad-fisica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255264" y="3657600"/>
            <a:ext cx="2761488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346704" y="3712464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Auth requerida  ·  admin/*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163056" y="2578608"/>
            <a:ext cx="2761488" cy="1417320"/>
          </a:xfrm>
          <a:prstGeom prst="roundRect">
            <a:avLst>
              <a:gd name="adj" fmla="val 7742"/>
            </a:avLst>
          </a:prstGeom>
          <a:solidFill>
            <a:srgbClr val="1A2E42"/>
          </a:solidFill>
          <a:ln w="15240">
            <a:solidFill>
              <a:srgbClr val="00B4D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36208" y="265176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🛡️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6940296" y="2670048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Prevención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6940296" y="3054096"/>
            <a:ext cx="1874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/prevencion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6163056" y="3657600"/>
            <a:ext cx="2761488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54496" y="3712464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Auth requerida  ·  admin/*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9070848" y="2578608"/>
            <a:ext cx="2761488" cy="1417320"/>
          </a:xfrm>
          <a:prstGeom prst="roundRect">
            <a:avLst>
              <a:gd name="adj" fmla="val 7742"/>
            </a:avLst>
          </a:prstGeom>
          <a:solidFill>
            <a:srgbClr val="1A2E42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0" y="265176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📰</a:t>
            </a:r>
            <a:endParaRPr lang="en-US" sz="2200" dirty="0"/>
          </a:p>
        </p:txBody>
      </p:sp>
      <p:sp>
        <p:nvSpPr>
          <p:cNvPr id="51" name="Text 49"/>
          <p:cNvSpPr/>
          <p:nvPr/>
        </p:nvSpPr>
        <p:spPr>
          <a:xfrm>
            <a:off x="9848088" y="2670048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Noticias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9848088" y="3054096"/>
            <a:ext cx="1874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/noticias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9070848" y="3657600"/>
            <a:ext cx="2761488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162288" y="3712464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Auth requerida  ·  admin/*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347472" y="4151376"/>
            <a:ext cx="2761488" cy="1417320"/>
          </a:xfrm>
          <a:prstGeom prst="roundRect">
            <a:avLst>
              <a:gd name="adj" fmla="val 7742"/>
            </a:avLst>
          </a:prstGeom>
          <a:solidFill>
            <a:srgbClr val="1A2E42"/>
          </a:solidFill>
          <a:ln w="15240">
            <a:solidFill>
              <a:srgbClr val="1565C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20624" y="422452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📚</a:t>
            </a:r>
            <a:endParaRPr lang="en-US" sz="2200" dirty="0"/>
          </a:p>
        </p:txBody>
      </p:sp>
      <p:sp>
        <p:nvSpPr>
          <p:cNvPr id="57" name="Text 55"/>
          <p:cNvSpPr/>
          <p:nvPr/>
        </p:nvSpPr>
        <p:spPr>
          <a:xfrm>
            <a:off x="1124712" y="4242816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1124712" y="4626864"/>
            <a:ext cx="1874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/recursos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347472" y="5230368"/>
            <a:ext cx="2761488" cy="36576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38912" y="528523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Auth requerida  ·  admin/*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3255264" y="4151376"/>
            <a:ext cx="2761488" cy="1417320"/>
          </a:xfrm>
          <a:prstGeom prst="roundRect">
            <a:avLst>
              <a:gd name="adj" fmla="val 7742"/>
            </a:avLst>
          </a:prstGeom>
          <a:solidFill>
            <a:srgbClr val="1A2E42"/>
          </a:solidFill>
          <a:ln w="15240">
            <a:solidFill>
              <a:srgbClr val="16A34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28416" y="422452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✉️</a:t>
            </a:r>
            <a:endParaRPr lang="en-US" sz="2200" dirty="0"/>
          </a:p>
        </p:txBody>
      </p:sp>
      <p:sp>
        <p:nvSpPr>
          <p:cNvPr id="63" name="Text 61"/>
          <p:cNvSpPr/>
          <p:nvPr/>
        </p:nvSpPr>
        <p:spPr>
          <a:xfrm>
            <a:off x="4032504" y="4242816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4032504" y="4626864"/>
            <a:ext cx="1874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/contacto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255264" y="5230368"/>
            <a:ext cx="2761488" cy="3657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346704" y="528523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Auth requerida  ·  admin/*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63056" y="4151376"/>
            <a:ext cx="2761488" cy="1417320"/>
          </a:xfrm>
          <a:prstGeom prst="roundRect">
            <a:avLst>
              <a:gd name="adj" fmla="val 7742"/>
            </a:avLst>
          </a:prstGeom>
          <a:solidFill>
            <a:srgbClr val="1A2E42"/>
          </a:solidFill>
          <a:ln w="15240">
            <a:solidFill>
              <a:srgbClr val="00B4D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236208" y="422452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♿</a:t>
            </a:r>
            <a:endParaRPr lang="en-US" sz="2200" dirty="0"/>
          </a:p>
        </p:txBody>
      </p:sp>
      <p:sp>
        <p:nvSpPr>
          <p:cNvPr id="69" name="Text 67"/>
          <p:cNvSpPr/>
          <p:nvPr/>
        </p:nvSpPr>
        <p:spPr>
          <a:xfrm>
            <a:off x="6940296" y="4242816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Accesibilidad</a:t>
            </a:r>
            <a:endParaRPr lang="en-US" sz="1150" dirty="0"/>
          </a:p>
        </p:txBody>
      </p:sp>
      <p:sp>
        <p:nvSpPr>
          <p:cNvPr id="70" name="Text 68"/>
          <p:cNvSpPr/>
          <p:nvPr/>
        </p:nvSpPr>
        <p:spPr>
          <a:xfrm>
            <a:off x="6940296" y="4626864"/>
            <a:ext cx="1874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/accesibilidad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6163056" y="5230368"/>
            <a:ext cx="2761488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254496" y="528523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Auth requerida  ·  admin/*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347472" y="5870448"/>
            <a:ext cx="11192256" cy="658368"/>
          </a:xfrm>
          <a:prstGeom prst="roundRect">
            <a:avLst>
              <a:gd name="adj" fmla="val 13889"/>
            </a:avLst>
          </a:prstGeom>
          <a:solidFill>
            <a:srgbClr val="1A0A0A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57200" y="5870448"/>
            <a:ext cx="10972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 Rutas Admin (autenticadas):  /admin/dashboard  ·  /admin/articulos  ·  /admin/noticias  ·  /admin/recursos  ·  /admin/mensajes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256032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109728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 — Principios Aplicados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47472" y="1005840"/>
            <a:ext cx="5577840" cy="1554480"/>
          </a:xfrm>
          <a:prstGeom prst="roundRect">
            <a:avLst>
              <a:gd name="adj" fmla="val 7059"/>
            </a:avLst>
          </a:prstGeom>
          <a:solidFill>
            <a:srgbClr val="1A2E42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25880"/>
            <a:ext cx="914400" cy="9144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3258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🗺️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517904" y="1097280"/>
            <a:ext cx="431596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 del estado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517904" y="1481328"/>
            <a:ext cx="431596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Breadcrumb en todas las páginas. aria-current="page" en NavLink activo. Skeleton loaders durante carga. Toast de confirmación en acciones críticas.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80760" y="1005840"/>
            <a:ext cx="5577840" cy="1554480"/>
          </a:xfrm>
          <a:prstGeom prst="roundRect">
            <a:avLst>
              <a:gd name="adj" fmla="val 7059"/>
            </a:avLst>
          </a:prstGeom>
          <a:solidFill>
            <a:srgbClr val="1A2E42"/>
          </a:solidFill>
          <a:ln w="15240">
            <a:solidFill>
              <a:srgbClr val="1565C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90488" y="1325880"/>
            <a:ext cx="914400" cy="91440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90488" y="13258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🔗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251192" y="1097280"/>
            <a:ext cx="431596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Consistencia y estándares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251192" y="1481328"/>
            <a:ext cx="431596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diseño "Ocean Breeze" con design tokens. Mismos colores, tipografía (Inter + Merriweather) y espaciado en todas las páginas. Navbar y footer invariantes.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47472" y="2697480"/>
            <a:ext cx="5577840" cy="1554480"/>
          </a:xfrm>
          <a:prstGeom prst="roundRect">
            <a:avLst>
              <a:gd name="adj" fmla="val 7059"/>
            </a:avLst>
          </a:prstGeom>
          <a:solidFill>
            <a:srgbClr val="1A2E42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17520"/>
            <a:ext cx="914400" cy="9144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0175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🚫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517904" y="2788920"/>
            <a:ext cx="431596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Prevención de errores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517904" y="3172968"/>
            <a:ext cx="431596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en tiempo real (onBlur) en formulario de contacto. Confirmación antes de eliminar en panel admin. Mensajes de error específicos por campo con aria-live.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080760" y="2697480"/>
            <a:ext cx="5577840" cy="1554480"/>
          </a:xfrm>
          <a:prstGeom prst="roundRect">
            <a:avLst>
              <a:gd name="adj" fmla="val 7059"/>
            </a:avLst>
          </a:prstGeom>
          <a:solidFill>
            <a:srgbClr val="1A2E42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90488" y="3017520"/>
            <a:ext cx="914400" cy="91440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90488" y="30175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251192" y="2788920"/>
            <a:ext cx="431596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Eficiencia de uso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251192" y="3172968"/>
            <a:ext cx="431596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SkipLink "Saltar al contenido principal". Focus management al navegar entre rutas. Lazy loading de páginas. Paginación con "Cargar más" sin recargar.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47472" y="4389120"/>
            <a:ext cx="5577840" cy="1554480"/>
          </a:xfrm>
          <a:prstGeom prst="roundRect">
            <a:avLst>
              <a:gd name="adj" fmla="val 7059"/>
            </a:avLst>
          </a:prstGeom>
          <a:solidFill>
            <a:srgbClr val="1A2E42"/>
          </a:solidFill>
          <a:ln w="15240">
            <a:solidFill>
              <a:srgbClr val="16A34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709160"/>
            <a:ext cx="914400" cy="9144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47091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📐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1517904" y="4480560"/>
            <a:ext cx="431596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estético minimalista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517904" y="4864608"/>
            <a:ext cx="431596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Paleta navy/teal con jerarquía visual clara. Espaciado con variables CSS. Contraste mínimo 4.5:1 en texto normal, 3:1 en texto grande (WCAG 1.4.3).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080760" y="4389120"/>
            <a:ext cx="5577840" cy="1554480"/>
          </a:xfrm>
          <a:prstGeom prst="roundRect">
            <a:avLst>
              <a:gd name="adj" fmla="val 7059"/>
            </a:avLst>
          </a:prstGeom>
          <a:solidFill>
            <a:srgbClr val="1A2E42"/>
          </a:solidFill>
          <a:ln w="15240">
            <a:solidFill>
              <a:srgbClr val="00B4D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90488" y="4709160"/>
            <a:ext cx="914400" cy="91440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90488" y="47091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🆘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7251192" y="4480560"/>
            <a:ext cx="431596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Ayuda y documentación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251192" y="4864608"/>
            <a:ext cx="431596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de contacto en /contacto y enlace consistente en footer. Página /accesibilidad con declaración honesta de conformidad y limitaciones documentadas.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256032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ACCESIBILIDAD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109728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WCAG 2.2 Nivel AA — Principios POUR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20040" y="1005840"/>
            <a:ext cx="2788920" cy="5577840"/>
          </a:xfrm>
          <a:prstGeom prst="roundRect">
            <a:avLst>
              <a:gd name="adj" fmla="val 4590"/>
            </a:avLst>
          </a:prstGeom>
          <a:solidFill>
            <a:srgbClr val="1A2E42"/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05840"/>
            <a:ext cx="2788920" cy="1280160"/>
          </a:xfrm>
          <a:prstGeom prst="roundRect">
            <a:avLst>
              <a:gd name="adj" fmla="val 1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005840"/>
            <a:ext cx="2788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320040" y="1755648"/>
            <a:ext cx="2788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Perceptible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57400" y="914400"/>
            <a:ext cx="731520" cy="731520"/>
          </a:xfrm>
          <a:prstGeom prst="ellipse">
            <a:avLst/>
          </a:prstGeom>
          <a:solidFill>
            <a:srgbClr val="0D1B2A"/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57400" y="914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" y="2423160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1.1.1 alt text descriptivo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1480" y="3154680"/>
            <a:ext cx="2606040" cy="0"/>
          </a:xfrm>
          <a:prstGeom prst="line">
            <a:avLst/>
          </a:prstGeom>
          <a:noFill/>
          <a:ln w="6350">
            <a:solidFill>
              <a:srgbClr val="0891B2">
                <a:alpha val="50000"/>
              </a:srgbClr>
            </a:solidFill>
            <a:prstDash val="sysDot"/>
          </a:ln>
        </p:spPr>
      </p:sp>
      <p:sp>
        <p:nvSpPr>
          <p:cNvPr id="15" name="Text 13"/>
          <p:cNvSpPr/>
          <p:nvPr/>
        </p:nvSpPr>
        <p:spPr>
          <a:xfrm>
            <a:off x="411480" y="3227832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1.2.2 subtítulos VTT video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3959352"/>
            <a:ext cx="2606040" cy="0"/>
          </a:xfrm>
          <a:prstGeom prst="line">
            <a:avLst/>
          </a:prstGeom>
          <a:noFill/>
          <a:ln w="6350">
            <a:solidFill>
              <a:srgbClr val="0891B2">
                <a:alpha val="50000"/>
              </a:srgbClr>
            </a:solidFill>
            <a:prstDash val="sysDot"/>
          </a:ln>
        </p:spPr>
      </p:sp>
      <p:sp>
        <p:nvSpPr>
          <p:cNvPr id="17" name="Text 15"/>
          <p:cNvSpPr/>
          <p:nvPr/>
        </p:nvSpPr>
        <p:spPr>
          <a:xfrm>
            <a:off x="411480" y="4032504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1.3.1 HTML semántico H1→H3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4764024"/>
            <a:ext cx="2606040" cy="0"/>
          </a:xfrm>
          <a:prstGeom prst="line">
            <a:avLst/>
          </a:prstGeom>
          <a:noFill/>
          <a:ln w="6350">
            <a:solidFill>
              <a:srgbClr val="0891B2">
                <a:alpha val="50000"/>
              </a:srgbClr>
            </a:solidFill>
            <a:prstDash val="sysDot"/>
          </a:ln>
        </p:spPr>
      </p:sp>
      <p:sp>
        <p:nvSpPr>
          <p:cNvPr id="19" name="Text 17"/>
          <p:cNvSpPr/>
          <p:nvPr/>
        </p:nvSpPr>
        <p:spPr>
          <a:xfrm>
            <a:off x="411480" y="4837176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1.4.3 contraste ≥4.5:1 (7 fixes)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5568696"/>
            <a:ext cx="2606040" cy="0"/>
          </a:xfrm>
          <a:prstGeom prst="line">
            <a:avLst/>
          </a:prstGeom>
          <a:noFill/>
          <a:ln w="6350">
            <a:solidFill>
              <a:srgbClr val="0891B2">
                <a:alpha val="50000"/>
              </a:srgbClr>
            </a:solidFill>
            <a:prstDash val="sysDot"/>
          </a:ln>
        </p:spPr>
      </p:sp>
      <p:sp>
        <p:nvSpPr>
          <p:cNvPr id="21" name="Text 19"/>
          <p:cNvSpPr/>
          <p:nvPr/>
        </p:nvSpPr>
        <p:spPr>
          <a:xfrm>
            <a:off x="411480" y="5641848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1.4.10 responsive 320px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27832" y="1005840"/>
            <a:ext cx="2788920" cy="5577840"/>
          </a:xfrm>
          <a:prstGeom prst="roundRect">
            <a:avLst>
              <a:gd name="adj" fmla="val 4590"/>
            </a:avLst>
          </a:prstGeom>
          <a:solidFill>
            <a:srgbClr val="1A2E42"/>
          </a:solidFill>
          <a:ln w="19050">
            <a:solidFill>
              <a:srgbClr val="1565C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27832" y="1005840"/>
            <a:ext cx="2788920" cy="1280160"/>
          </a:xfrm>
          <a:prstGeom prst="roundRect">
            <a:avLst>
              <a:gd name="adj" fmla="val 10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27832" y="1005840"/>
            <a:ext cx="2788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4200" dirty="0"/>
          </a:p>
        </p:txBody>
      </p:sp>
      <p:sp>
        <p:nvSpPr>
          <p:cNvPr id="25" name="Text 23"/>
          <p:cNvSpPr/>
          <p:nvPr/>
        </p:nvSpPr>
        <p:spPr>
          <a:xfrm>
            <a:off x="3227832" y="1755648"/>
            <a:ext cx="2788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965192" y="914400"/>
            <a:ext cx="731520" cy="731520"/>
          </a:xfrm>
          <a:prstGeom prst="ellipse">
            <a:avLst/>
          </a:prstGeom>
          <a:solidFill>
            <a:srgbClr val="0D1B2A"/>
          </a:solidFill>
          <a:ln w="19050">
            <a:solidFill>
              <a:srgbClr val="1565C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65192" y="914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319272" y="2423160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2.1.1 100% navegable por teclado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19272" y="3154680"/>
            <a:ext cx="2606040" cy="0"/>
          </a:xfrm>
          <a:prstGeom prst="line">
            <a:avLst/>
          </a:prstGeom>
          <a:noFill/>
          <a:ln w="6350">
            <a:solidFill>
              <a:srgbClr val="1565C0">
                <a:alpha val="50000"/>
              </a:srgbClr>
            </a:solidFill>
            <a:prstDash val="sysDot"/>
          </a:ln>
        </p:spPr>
      </p:sp>
      <p:sp>
        <p:nvSpPr>
          <p:cNvPr id="30" name="Text 28"/>
          <p:cNvSpPr/>
          <p:nvPr/>
        </p:nvSpPr>
        <p:spPr>
          <a:xfrm>
            <a:off x="3319272" y="3227832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2.4.1 SkipLink activo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319272" y="3959352"/>
            <a:ext cx="2606040" cy="0"/>
          </a:xfrm>
          <a:prstGeom prst="line">
            <a:avLst/>
          </a:prstGeom>
          <a:noFill/>
          <a:ln w="6350">
            <a:solidFill>
              <a:srgbClr val="1565C0">
                <a:alpha val="50000"/>
              </a:srgbClr>
            </a:solidFill>
            <a:prstDash val="sysDot"/>
          </a:ln>
        </p:spPr>
      </p:sp>
      <p:sp>
        <p:nvSpPr>
          <p:cNvPr id="32" name="Text 30"/>
          <p:cNvSpPr/>
          <p:nvPr/>
        </p:nvSpPr>
        <p:spPr>
          <a:xfrm>
            <a:off x="3319272" y="4032504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2.4.3 focus management correcto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319272" y="4764024"/>
            <a:ext cx="2606040" cy="0"/>
          </a:xfrm>
          <a:prstGeom prst="line">
            <a:avLst/>
          </a:prstGeom>
          <a:noFill/>
          <a:ln w="6350">
            <a:solidFill>
              <a:srgbClr val="1565C0">
                <a:alpha val="50000"/>
              </a:srgbClr>
            </a:solidFill>
            <a:prstDash val="sysDot"/>
          </a:ln>
        </p:spPr>
      </p:sp>
      <p:sp>
        <p:nvSpPr>
          <p:cNvPr id="34" name="Text 32"/>
          <p:cNvSpPr/>
          <p:nvPr/>
        </p:nvSpPr>
        <p:spPr>
          <a:xfrm>
            <a:off x="3319272" y="4837176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2.4.7 indicador de foco visible 3px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319272" y="5568696"/>
            <a:ext cx="2606040" cy="0"/>
          </a:xfrm>
          <a:prstGeom prst="line">
            <a:avLst/>
          </a:prstGeom>
          <a:noFill/>
          <a:ln w="6350">
            <a:solidFill>
              <a:srgbClr val="1565C0">
                <a:alpha val="50000"/>
              </a:srgbClr>
            </a:solidFill>
            <a:prstDash val="sysDot"/>
          </a:ln>
        </p:spPr>
      </p:sp>
      <p:sp>
        <p:nvSpPr>
          <p:cNvPr id="36" name="Text 34"/>
          <p:cNvSpPr/>
          <p:nvPr/>
        </p:nvSpPr>
        <p:spPr>
          <a:xfrm>
            <a:off x="3319272" y="5641848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2.5.7 alternativa drag (sr-only nav)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135624" y="1005840"/>
            <a:ext cx="2788920" cy="5577840"/>
          </a:xfrm>
          <a:prstGeom prst="roundRect">
            <a:avLst>
              <a:gd name="adj" fmla="val 4590"/>
            </a:avLst>
          </a:prstGeom>
          <a:solidFill>
            <a:srgbClr val="1A2E42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35624" y="1005840"/>
            <a:ext cx="2788920" cy="1280160"/>
          </a:xfrm>
          <a:prstGeom prst="roundRect">
            <a:avLst>
              <a:gd name="adj" fmla="val 10000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35624" y="1005840"/>
            <a:ext cx="2788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4200" dirty="0"/>
          </a:p>
        </p:txBody>
      </p:sp>
      <p:sp>
        <p:nvSpPr>
          <p:cNvPr id="40" name="Text 38"/>
          <p:cNvSpPr/>
          <p:nvPr/>
        </p:nvSpPr>
        <p:spPr>
          <a:xfrm>
            <a:off x="6135624" y="1755648"/>
            <a:ext cx="2788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Comprensible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872984" y="914400"/>
            <a:ext cx="731520" cy="731520"/>
          </a:xfrm>
          <a:prstGeom prst="ellipse">
            <a:avLst/>
          </a:prstGeom>
          <a:solidFill>
            <a:srgbClr val="0D1B2A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872984" y="914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227064" y="2423160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3.1.1 &lt;html lang="es"&gt;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227064" y="3154680"/>
            <a:ext cx="2606040" cy="0"/>
          </a:xfrm>
          <a:prstGeom prst="line">
            <a:avLst/>
          </a:prstGeom>
          <a:noFill/>
          <a:ln w="6350">
            <a:solidFill>
              <a:srgbClr val="16A34A">
                <a:alpha val="50000"/>
              </a:srgbClr>
            </a:solidFill>
            <a:prstDash val="sysDot"/>
          </a:ln>
        </p:spPr>
      </p:sp>
      <p:sp>
        <p:nvSpPr>
          <p:cNvPr id="45" name="Text 43"/>
          <p:cNvSpPr/>
          <p:nvPr/>
        </p:nvSpPr>
        <p:spPr>
          <a:xfrm>
            <a:off x="6227064" y="3227832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3.2.3 Navbar coherente en todas las págs.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227064" y="3959352"/>
            <a:ext cx="2606040" cy="0"/>
          </a:xfrm>
          <a:prstGeom prst="line">
            <a:avLst/>
          </a:prstGeom>
          <a:noFill/>
          <a:ln w="6350">
            <a:solidFill>
              <a:srgbClr val="16A34A">
                <a:alpha val="50000"/>
              </a:srgbClr>
            </a:solidFill>
            <a:prstDash val="sysDot"/>
          </a:ln>
        </p:spPr>
      </p:sp>
      <p:sp>
        <p:nvSpPr>
          <p:cNvPr id="47" name="Text 45"/>
          <p:cNvSpPr/>
          <p:nvPr/>
        </p:nvSpPr>
        <p:spPr>
          <a:xfrm>
            <a:off x="6227064" y="4032504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3.3.1 errores con role="alert"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227064" y="4764024"/>
            <a:ext cx="2606040" cy="0"/>
          </a:xfrm>
          <a:prstGeom prst="line">
            <a:avLst/>
          </a:prstGeom>
          <a:noFill/>
          <a:ln w="6350">
            <a:solidFill>
              <a:srgbClr val="16A34A">
                <a:alpha val="50000"/>
              </a:srgbClr>
            </a:solidFill>
            <a:prstDash val="sysDot"/>
          </a:ln>
        </p:spPr>
      </p:sp>
      <p:sp>
        <p:nvSpPr>
          <p:cNvPr id="49" name="Text 47"/>
          <p:cNvSpPr/>
          <p:nvPr/>
        </p:nvSpPr>
        <p:spPr>
          <a:xfrm>
            <a:off x="6227064" y="4837176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3.3.2 labels visibles en formularios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227064" y="5568696"/>
            <a:ext cx="2606040" cy="0"/>
          </a:xfrm>
          <a:prstGeom prst="line">
            <a:avLst/>
          </a:prstGeom>
          <a:noFill/>
          <a:ln w="6350">
            <a:solidFill>
              <a:srgbClr val="16A34A">
                <a:alpha val="50000"/>
              </a:srgbClr>
            </a:solidFill>
            <a:prstDash val="sysDot"/>
          </a:ln>
        </p:spPr>
      </p:sp>
      <p:sp>
        <p:nvSpPr>
          <p:cNvPr id="51" name="Text 49"/>
          <p:cNvSpPr/>
          <p:nvPr/>
        </p:nvSpPr>
        <p:spPr>
          <a:xfrm>
            <a:off x="6227064" y="5641848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3.2.6 contacto en footer consistente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043416" y="1005840"/>
            <a:ext cx="2788920" cy="5577840"/>
          </a:xfrm>
          <a:prstGeom prst="roundRect">
            <a:avLst>
              <a:gd name="adj" fmla="val 4590"/>
            </a:avLst>
          </a:prstGeom>
          <a:solidFill>
            <a:srgbClr val="1A2E42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043416" y="1005840"/>
            <a:ext cx="2788920" cy="1280160"/>
          </a:xfrm>
          <a:prstGeom prst="roundRect">
            <a:avLst>
              <a:gd name="adj" fmla="val 1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43416" y="1005840"/>
            <a:ext cx="2788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4200" dirty="0"/>
          </a:p>
        </p:txBody>
      </p:sp>
      <p:sp>
        <p:nvSpPr>
          <p:cNvPr id="55" name="Text 53"/>
          <p:cNvSpPr/>
          <p:nvPr/>
        </p:nvSpPr>
        <p:spPr>
          <a:xfrm>
            <a:off x="9043416" y="1755648"/>
            <a:ext cx="2788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Robusto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10780776" y="914400"/>
            <a:ext cx="731520" cy="731520"/>
          </a:xfrm>
          <a:prstGeom prst="ellipse">
            <a:avLst/>
          </a:prstGeom>
          <a:solidFill>
            <a:srgbClr val="0D1B2A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780776" y="914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9134856" y="2423160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4.1.1 HTML válido, sin IDs dup.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9134856" y="3154680"/>
            <a:ext cx="2606040" cy="0"/>
          </a:xfrm>
          <a:prstGeom prst="line">
            <a:avLst/>
          </a:prstGeom>
          <a:noFill/>
          <a:ln w="6350">
            <a:solidFill>
              <a:srgbClr val="7C3AED">
                <a:alpha val="50000"/>
              </a:srgbClr>
            </a:solidFill>
            <a:prstDash val="sysDot"/>
          </a:ln>
        </p:spPr>
      </p:sp>
      <p:sp>
        <p:nvSpPr>
          <p:cNvPr id="60" name="Text 58"/>
          <p:cNvSpPr/>
          <p:nvPr/>
        </p:nvSpPr>
        <p:spPr>
          <a:xfrm>
            <a:off x="9134856" y="3227832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4.1.2 aria-expanded/controls/current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9134856" y="3959352"/>
            <a:ext cx="2606040" cy="0"/>
          </a:xfrm>
          <a:prstGeom prst="line">
            <a:avLst/>
          </a:prstGeom>
          <a:noFill/>
          <a:ln w="6350">
            <a:solidFill>
              <a:srgbClr val="7C3AED">
                <a:alpha val="50000"/>
              </a:srgbClr>
            </a:solidFill>
            <a:prstDash val="sysDot"/>
          </a:ln>
        </p:spPr>
      </p:sp>
      <p:sp>
        <p:nvSpPr>
          <p:cNvPr id="62" name="Text 60"/>
          <p:cNvSpPr/>
          <p:nvPr/>
        </p:nvSpPr>
        <p:spPr>
          <a:xfrm>
            <a:off x="9134856" y="4032504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4.1.3 role="status" en Spinner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9134856" y="4764024"/>
            <a:ext cx="2606040" cy="0"/>
          </a:xfrm>
          <a:prstGeom prst="line">
            <a:avLst/>
          </a:prstGeom>
          <a:noFill/>
          <a:ln w="6350">
            <a:solidFill>
              <a:srgbClr val="7C3AED">
                <a:alpha val="50000"/>
              </a:srgbClr>
            </a:solidFill>
            <a:prstDash val="sysDot"/>
          </a:ln>
        </p:spPr>
      </p:sp>
      <p:sp>
        <p:nvSpPr>
          <p:cNvPr id="64" name="Text 62"/>
          <p:cNvSpPr/>
          <p:nvPr/>
        </p:nvSpPr>
        <p:spPr>
          <a:xfrm>
            <a:off x="9134856" y="4837176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axe DevTools 0 violaciones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9134856" y="5568696"/>
            <a:ext cx="2606040" cy="0"/>
          </a:xfrm>
          <a:prstGeom prst="line">
            <a:avLst/>
          </a:prstGeom>
          <a:noFill/>
          <a:ln w="6350">
            <a:solidFill>
              <a:srgbClr val="7C3AED">
                <a:alpha val="50000"/>
              </a:srgbClr>
            </a:solidFill>
            <a:prstDash val="sysDot"/>
          </a:ln>
        </p:spPr>
      </p:sp>
      <p:sp>
        <p:nvSpPr>
          <p:cNvPr id="66" name="Text 64"/>
          <p:cNvSpPr/>
          <p:nvPr/>
        </p:nvSpPr>
        <p:spPr>
          <a:xfrm>
            <a:off x="9134856" y="5641848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NVDA + Chrome: landmarks OK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256032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CONFORMIDAD WCAG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109728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Conformidad WCAG 2.2 AA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16A34A">
              <a:alpha val="30000"/>
            </a:srgbClr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96012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Implementado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926080" y="96012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26080" y="96012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Parcial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0" y="96012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EA580C">
              <a:alpha val="30000"/>
            </a:srgbClr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0" y="96012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Pendiente (Sprint 3)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92608" y="1417320"/>
            <a:ext cx="1353312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2608" y="1417320"/>
            <a:ext cx="13533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82496" y="1417320"/>
            <a:ext cx="4992624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82496" y="1417320"/>
            <a:ext cx="49926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Descripción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711696" y="1417320"/>
            <a:ext cx="603504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11696" y="1417320"/>
            <a:ext cx="6035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351776" y="1417320"/>
            <a:ext cx="1106424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51776" y="1417320"/>
            <a:ext cx="11064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494776" y="1417320"/>
            <a:ext cx="2523744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94776" y="141732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92608" y="1792224"/>
            <a:ext cx="1353312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82496" y="1792224"/>
            <a:ext cx="499262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11696" y="1792224"/>
            <a:ext cx="60350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51776" y="1792224"/>
            <a:ext cx="110642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94776" y="1792224"/>
            <a:ext cx="252374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28" y="1828800"/>
            <a:ext cx="1298448" cy="196596"/>
          </a:xfrm>
          <a:prstGeom prst="roundRect">
            <a:avLst>
              <a:gd name="adj" fmla="val 32558"/>
            </a:avLst>
          </a:prstGeom>
          <a:solidFill>
            <a:srgbClr val="16A34A">
              <a:alpha val="25000"/>
            </a:srgbClr>
          </a:solidFill>
          <a:ln w="12700">
            <a:solidFill>
              <a:srgbClr val="16A34A">
                <a:alpha val="6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8328" y="1828800"/>
            <a:ext cx="1298448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1.1.1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682496" y="1810512"/>
            <a:ext cx="495604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alternativo (alt descriptivo en imágenes)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711696" y="1792224"/>
            <a:ext cx="64008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351776" y="1792224"/>
            <a:ext cx="114300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494776" y="1810512"/>
            <a:ext cx="248716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 · WAVE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92608" y="2061972"/>
            <a:ext cx="1353312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682496" y="2061972"/>
            <a:ext cx="499262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11696" y="2061972"/>
            <a:ext cx="60350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351776" y="2061972"/>
            <a:ext cx="110642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94776" y="2061972"/>
            <a:ext cx="252374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8328" y="2098548"/>
            <a:ext cx="1298448" cy="196596"/>
          </a:xfrm>
          <a:prstGeom prst="roundRect">
            <a:avLst>
              <a:gd name="adj" fmla="val 32558"/>
            </a:avLst>
          </a:prstGeom>
          <a:solidFill>
            <a:srgbClr val="16A34A">
              <a:alpha val="25000"/>
            </a:srgbClr>
          </a:solidFill>
          <a:ln w="12700">
            <a:solidFill>
              <a:srgbClr val="16A34A">
                <a:alpha val="60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8328" y="2098548"/>
            <a:ext cx="1298448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1.2.2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682496" y="2080260"/>
            <a:ext cx="495604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Subtítulos para video — archivo VTT incluido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711696" y="2061972"/>
            <a:ext cx="64008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7351776" y="2061972"/>
            <a:ext cx="114300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494776" y="2080260"/>
            <a:ext cx="248716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manual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292608" y="2331720"/>
            <a:ext cx="1353312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682496" y="2331720"/>
            <a:ext cx="499262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711696" y="2331720"/>
            <a:ext cx="60350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351776" y="2331720"/>
            <a:ext cx="110642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94776" y="2331720"/>
            <a:ext cx="252374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38328" y="2368296"/>
            <a:ext cx="1298448" cy="196596"/>
          </a:xfrm>
          <a:prstGeom prst="roundRect">
            <a:avLst>
              <a:gd name="adj" fmla="val 32558"/>
            </a:avLst>
          </a:prstGeom>
          <a:solidFill>
            <a:srgbClr val="EA580C">
              <a:alpha val="25000"/>
            </a:srgbClr>
          </a:solidFill>
          <a:ln w="12700">
            <a:solidFill>
              <a:srgbClr val="EA580C">
                <a:alpha val="6000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38328" y="2368296"/>
            <a:ext cx="1298448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1.2.3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682496" y="2350008"/>
            <a:ext cx="495604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Audiodescripción del video — aún pendiente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6711696" y="2331720"/>
            <a:ext cx="64008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7351776" y="2331720"/>
            <a:ext cx="114300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494776" y="2350008"/>
            <a:ext cx="248716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292608" y="2601468"/>
            <a:ext cx="1353312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682496" y="2601468"/>
            <a:ext cx="499262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711696" y="2601468"/>
            <a:ext cx="60350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351776" y="2601468"/>
            <a:ext cx="110642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94776" y="2601468"/>
            <a:ext cx="252374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38328" y="2638044"/>
            <a:ext cx="1298448" cy="196596"/>
          </a:xfrm>
          <a:prstGeom prst="roundRect">
            <a:avLst>
              <a:gd name="adj" fmla="val 32558"/>
            </a:avLst>
          </a:prstGeom>
          <a:solidFill>
            <a:srgbClr val="16A34A">
              <a:alpha val="25000"/>
            </a:srgbClr>
          </a:solidFill>
          <a:ln w="12700">
            <a:solidFill>
              <a:srgbClr val="16A34A">
                <a:alpha val="6000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8328" y="2638044"/>
            <a:ext cx="1298448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1.3.1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682496" y="2619756"/>
            <a:ext cx="495604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y relaciones — HTML semántico H1→H3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6711696" y="2601468"/>
            <a:ext cx="64008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7351776" y="2601468"/>
            <a:ext cx="114300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8494776" y="2619756"/>
            <a:ext cx="248716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 · NVDA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292608" y="2871216"/>
            <a:ext cx="1353312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682496" y="2871216"/>
            <a:ext cx="499262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711696" y="2871216"/>
            <a:ext cx="60350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351776" y="2871216"/>
            <a:ext cx="110642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494776" y="2871216"/>
            <a:ext cx="252374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38328" y="2907792"/>
            <a:ext cx="1298448" cy="196596"/>
          </a:xfrm>
          <a:prstGeom prst="roundRect">
            <a:avLst>
              <a:gd name="adj" fmla="val 32558"/>
            </a:avLst>
          </a:prstGeom>
          <a:solidFill>
            <a:srgbClr val="16A34A">
              <a:alpha val="25000"/>
            </a:srgbClr>
          </a:solidFill>
          <a:ln w="12700">
            <a:solidFill>
              <a:srgbClr val="16A34A">
                <a:alpha val="60000"/>
              </a:srgbClr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38328" y="2907792"/>
            <a:ext cx="1298448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1.3.4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1682496" y="2889504"/>
            <a:ext cx="495604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Orientación — no se bloquea modo horizontal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6711696" y="2871216"/>
            <a:ext cx="64008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7351776" y="2871216"/>
            <a:ext cx="114300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8494776" y="2889504"/>
            <a:ext cx="248716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292608" y="3140964"/>
            <a:ext cx="1353312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682496" y="3140964"/>
            <a:ext cx="499262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711696" y="3140964"/>
            <a:ext cx="60350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351776" y="3140964"/>
            <a:ext cx="110642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8494776" y="3140964"/>
            <a:ext cx="252374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38328" y="3177540"/>
            <a:ext cx="1298448" cy="196596"/>
          </a:xfrm>
          <a:prstGeom prst="roundRect">
            <a:avLst>
              <a:gd name="adj" fmla="val 32558"/>
            </a:avLst>
          </a:prstGeom>
          <a:solidFill>
            <a:srgbClr val="16A34A">
              <a:alpha val="25000"/>
            </a:srgbClr>
          </a:solidFill>
          <a:ln w="12700">
            <a:solidFill>
              <a:srgbClr val="16A34A">
                <a:alpha val="60000"/>
              </a:srgbClr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38328" y="3177540"/>
            <a:ext cx="1298448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1.4.1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1682496" y="3159252"/>
            <a:ext cx="495604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del color — no único indicador de info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6711696" y="3140964"/>
            <a:ext cx="64008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7351776" y="3140964"/>
            <a:ext cx="114300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8494776" y="3159252"/>
            <a:ext cx="248716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manual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292608" y="3410712"/>
            <a:ext cx="1353312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682496" y="3410712"/>
            <a:ext cx="499262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711696" y="3410712"/>
            <a:ext cx="60350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351776" y="3410712"/>
            <a:ext cx="110642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494776" y="3410712"/>
            <a:ext cx="252374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8328" y="3447288"/>
            <a:ext cx="1298448" cy="196596"/>
          </a:xfrm>
          <a:prstGeom prst="roundRect">
            <a:avLst>
              <a:gd name="adj" fmla="val 32558"/>
            </a:avLst>
          </a:prstGeom>
          <a:solidFill>
            <a:srgbClr val="16A34A">
              <a:alpha val="25000"/>
            </a:srgbClr>
          </a:solidFill>
          <a:ln w="12700">
            <a:solidFill>
              <a:srgbClr val="16A34A">
                <a:alpha val="60000"/>
              </a:srgbClr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38328" y="3447288"/>
            <a:ext cx="1298448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1.4.3</a:t>
            </a:r>
            <a:endParaRPr lang="en-US" sz="900" dirty="0"/>
          </a:p>
        </p:txBody>
      </p:sp>
      <p:sp>
        <p:nvSpPr>
          <p:cNvPr id="96" name="Text 94"/>
          <p:cNvSpPr/>
          <p:nvPr/>
        </p:nvSpPr>
        <p:spPr>
          <a:xfrm>
            <a:off x="1682496" y="3429000"/>
            <a:ext cx="495604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Contraste mínimo 4.5:1 texto / 3:1 grande — 7 fixes</a:t>
            </a:r>
            <a:endParaRPr lang="en-US" sz="850" dirty="0"/>
          </a:p>
        </p:txBody>
      </p:sp>
      <p:sp>
        <p:nvSpPr>
          <p:cNvPr id="97" name="Text 95"/>
          <p:cNvSpPr/>
          <p:nvPr/>
        </p:nvSpPr>
        <p:spPr>
          <a:xfrm>
            <a:off x="6711696" y="3410712"/>
            <a:ext cx="64008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7351776" y="3410712"/>
            <a:ext cx="114300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99" name="Text 97"/>
          <p:cNvSpPr/>
          <p:nvPr/>
        </p:nvSpPr>
        <p:spPr>
          <a:xfrm>
            <a:off x="8494776" y="3429000"/>
            <a:ext cx="248716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Pa11y · WAVE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292608" y="3680460"/>
            <a:ext cx="1353312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682496" y="3680460"/>
            <a:ext cx="499262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6711696" y="3680460"/>
            <a:ext cx="60350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351776" y="3680460"/>
            <a:ext cx="110642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8494776" y="3680460"/>
            <a:ext cx="252374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338328" y="3717036"/>
            <a:ext cx="1298448" cy="196596"/>
          </a:xfrm>
          <a:prstGeom prst="roundRect">
            <a:avLst>
              <a:gd name="adj" fmla="val 32558"/>
            </a:avLst>
          </a:prstGeom>
          <a:solidFill>
            <a:srgbClr val="16A34A">
              <a:alpha val="25000"/>
            </a:srgbClr>
          </a:solidFill>
          <a:ln w="12700">
            <a:solidFill>
              <a:srgbClr val="16A34A">
                <a:alpha val="60000"/>
              </a:srgbClr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338328" y="3717036"/>
            <a:ext cx="1298448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1.4.10</a:t>
            </a:r>
            <a:endParaRPr lang="en-US" sz="900" dirty="0"/>
          </a:p>
        </p:txBody>
      </p:sp>
      <p:sp>
        <p:nvSpPr>
          <p:cNvPr id="107" name="Text 105"/>
          <p:cNvSpPr/>
          <p:nvPr/>
        </p:nvSpPr>
        <p:spPr>
          <a:xfrm>
            <a:off x="1682496" y="3698748"/>
            <a:ext cx="495604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Reflow — funcional a 320px sin scroll horizontal</a:t>
            </a:r>
            <a:endParaRPr lang="en-US" sz="850" dirty="0"/>
          </a:p>
        </p:txBody>
      </p:sp>
      <p:sp>
        <p:nvSpPr>
          <p:cNvPr id="108" name="Text 106"/>
          <p:cNvSpPr/>
          <p:nvPr/>
        </p:nvSpPr>
        <p:spPr>
          <a:xfrm>
            <a:off x="6711696" y="3680460"/>
            <a:ext cx="64008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</a:t>
            </a:r>
            <a:endParaRPr lang="en-US" sz="850" dirty="0"/>
          </a:p>
        </p:txBody>
      </p:sp>
      <p:sp>
        <p:nvSpPr>
          <p:cNvPr id="109" name="Text 107"/>
          <p:cNvSpPr/>
          <p:nvPr/>
        </p:nvSpPr>
        <p:spPr>
          <a:xfrm>
            <a:off x="7351776" y="3680460"/>
            <a:ext cx="114300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110" name="Text 108"/>
          <p:cNvSpPr/>
          <p:nvPr/>
        </p:nvSpPr>
        <p:spPr>
          <a:xfrm>
            <a:off x="8494776" y="3698748"/>
            <a:ext cx="248716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</a:t>
            </a:r>
            <a:endParaRPr lang="en-US" sz="800" dirty="0"/>
          </a:p>
        </p:txBody>
      </p:sp>
      <p:sp>
        <p:nvSpPr>
          <p:cNvPr id="111" name="Shape 109"/>
          <p:cNvSpPr/>
          <p:nvPr/>
        </p:nvSpPr>
        <p:spPr>
          <a:xfrm>
            <a:off x="292608" y="3950208"/>
            <a:ext cx="1353312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1682496" y="3950208"/>
            <a:ext cx="499262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6711696" y="3950208"/>
            <a:ext cx="60350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7351776" y="3950208"/>
            <a:ext cx="110642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494776" y="3950208"/>
            <a:ext cx="252374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38328" y="3986784"/>
            <a:ext cx="1298448" cy="196596"/>
          </a:xfrm>
          <a:prstGeom prst="roundRect">
            <a:avLst>
              <a:gd name="adj" fmla="val 32558"/>
            </a:avLst>
          </a:prstGeom>
          <a:solidFill>
            <a:srgbClr val="16A34A">
              <a:alpha val="25000"/>
            </a:srgbClr>
          </a:solidFill>
          <a:ln w="12700">
            <a:solidFill>
              <a:srgbClr val="16A34A">
                <a:alpha val="60000"/>
              </a:srgbClr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338328" y="3986784"/>
            <a:ext cx="1298448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1.4.11</a:t>
            </a:r>
            <a:endParaRPr lang="en-US" sz="900" dirty="0"/>
          </a:p>
        </p:txBody>
      </p:sp>
      <p:sp>
        <p:nvSpPr>
          <p:cNvPr id="118" name="Text 116"/>
          <p:cNvSpPr/>
          <p:nvPr/>
        </p:nvSpPr>
        <p:spPr>
          <a:xfrm>
            <a:off x="1682496" y="3968496"/>
            <a:ext cx="495604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Contraste componentes UI — foco 3px outline teal</a:t>
            </a:r>
            <a:endParaRPr lang="en-US" sz="850" dirty="0"/>
          </a:p>
        </p:txBody>
      </p:sp>
      <p:sp>
        <p:nvSpPr>
          <p:cNvPr id="119" name="Text 117"/>
          <p:cNvSpPr/>
          <p:nvPr/>
        </p:nvSpPr>
        <p:spPr>
          <a:xfrm>
            <a:off x="6711696" y="3950208"/>
            <a:ext cx="64008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</a:t>
            </a:r>
            <a:endParaRPr lang="en-US" sz="850" dirty="0"/>
          </a:p>
        </p:txBody>
      </p:sp>
      <p:sp>
        <p:nvSpPr>
          <p:cNvPr id="120" name="Text 118"/>
          <p:cNvSpPr/>
          <p:nvPr/>
        </p:nvSpPr>
        <p:spPr>
          <a:xfrm>
            <a:off x="7351776" y="3950208"/>
            <a:ext cx="114300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121" name="Text 119"/>
          <p:cNvSpPr/>
          <p:nvPr/>
        </p:nvSpPr>
        <p:spPr>
          <a:xfrm>
            <a:off x="8494776" y="3968496"/>
            <a:ext cx="248716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 DevTools</a:t>
            </a:r>
            <a:endParaRPr lang="en-US" sz="800" dirty="0"/>
          </a:p>
        </p:txBody>
      </p:sp>
      <p:sp>
        <p:nvSpPr>
          <p:cNvPr id="122" name="Shape 120"/>
          <p:cNvSpPr/>
          <p:nvPr/>
        </p:nvSpPr>
        <p:spPr>
          <a:xfrm>
            <a:off x="292608" y="4219956"/>
            <a:ext cx="1353312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1682496" y="4219956"/>
            <a:ext cx="499262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711696" y="4219956"/>
            <a:ext cx="60350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351776" y="4219956"/>
            <a:ext cx="110642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8494776" y="4219956"/>
            <a:ext cx="252374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338328" y="4256532"/>
            <a:ext cx="1298448" cy="196596"/>
          </a:xfrm>
          <a:prstGeom prst="roundRect">
            <a:avLst>
              <a:gd name="adj" fmla="val 32558"/>
            </a:avLst>
          </a:prstGeom>
          <a:solidFill>
            <a:srgbClr val="16A34A">
              <a:alpha val="25000"/>
            </a:srgbClr>
          </a:solidFill>
          <a:ln w="12700">
            <a:solidFill>
              <a:srgbClr val="16A34A">
                <a:alpha val="60000"/>
              </a:srgbClr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338328" y="4256532"/>
            <a:ext cx="1298448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2.1.1</a:t>
            </a:r>
            <a:endParaRPr lang="en-US" sz="900" dirty="0"/>
          </a:p>
        </p:txBody>
      </p:sp>
      <p:sp>
        <p:nvSpPr>
          <p:cNvPr id="129" name="Text 127"/>
          <p:cNvSpPr/>
          <p:nvPr/>
        </p:nvSpPr>
        <p:spPr>
          <a:xfrm>
            <a:off x="1682496" y="4238244"/>
            <a:ext cx="495604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Teclado — 100% navegable sin ratón</a:t>
            </a:r>
            <a:endParaRPr lang="en-US" sz="850" dirty="0"/>
          </a:p>
        </p:txBody>
      </p:sp>
      <p:sp>
        <p:nvSpPr>
          <p:cNvPr id="130" name="Text 128"/>
          <p:cNvSpPr/>
          <p:nvPr/>
        </p:nvSpPr>
        <p:spPr>
          <a:xfrm>
            <a:off x="6711696" y="4219956"/>
            <a:ext cx="64008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131" name="Text 129"/>
          <p:cNvSpPr/>
          <p:nvPr/>
        </p:nvSpPr>
        <p:spPr>
          <a:xfrm>
            <a:off x="7351776" y="4219956"/>
            <a:ext cx="114300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132" name="Text 130"/>
          <p:cNvSpPr/>
          <p:nvPr/>
        </p:nvSpPr>
        <p:spPr>
          <a:xfrm>
            <a:off x="8494776" y="4238244"/>
            <a:ext cx="248716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teclado manual</a:t>
            </a:r>
            <a:endParaRPr lang="en-US" sz="800" dirty="0"/>
          </a:p>
        </p:txBody>
      </p:sp>
      <p:sp>
        <p:nvSpPr>
          <p:cNvPr id="133" name="Shape 131"/>
          <p:cNvSpPr/>
          <p:nvPr/>
        </p:nvSpPr>
        <p:spPr>
          <a:xfrm>
            <a:off x="292608" y="4489704"/>
            <a:ext cx="1353312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1682496" y="4489704"/>
            <a:ext cx="499262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6711696" y="4489704"/>
            <a:ext cx="60350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7351776" y="4489704"/>
            <a:ext cx="110642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8494776" y="4489704"/>
            <a:ext cx="252374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338328" y="4526280"/>
            <a:ext cx="1298448" cy="196596"/>
          </a:xfrm>
          <a:prstGeom prst="roundRect">
            <a:avLst>
              <a:gd name="adj" fmla="val 32558"/>
            </a:avLst>
          </a:prstGeom>
          <a:solidFill>
            <a:srgbClr val="16A34A">
              <a:alpha val="25000"/>
            </a:srgbClr>
          </a:solidFill>
          <a:ln w="12700">
            <a:solidFill>
              <a:srgbClr val="16A34A">
                <a:alpha val="60000"/>
              </a:srgbClr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338328" y="4526280"/>
            <a:ext cx="1298448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2.1.2</a:t>
            </a:r>
            <a:endParaRPr lang="en-US" sz="900" dirty="0"/>
          </a:p>
        </p:txBody>
      </p:sp>
      <p:sp>
        <p:nvSpPr>
          <p:cNvPr id="140" name="Text 138"/>
          <p:cNvSpPr/>
          <p:nvPr/>
        </p:nvSpPr>
        <p:spPr>
          <a:xfrm>
            <a:off x="1682496" y="4507992"/>
            <a:ext cx="495604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trampa de teclado — Modal cierra con Esc</a:t>
            </a:r>
            <a:endParaRPr lang="en-US" sz="850" dirty="0"/>
          </a:p>
        </p:txBody>
      </p:sp>
      <p:sp>
        <p:nvSpPr>
          <p:cNvPr id="141" name="Text 139"/>
          <p:cNvSpPr/>
          <p:nvPr/>
        </p:nvSpPr>
        <p:spPr>
          <a:xfrm>
            <a:off x="6711696" y="4489704"/>
            <a:ext cx="64008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142" name="Text 140"/>
          <p:cNvSpPr/>
          <p:nvPr/>
        </p:nvSpPr>
        <p:spPr>
          <a:xfrm>
            <a:off x="7351776" y="4489704"/>
            <a:ext cx="114300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143" name="Text 141"/>
          <p:cNvSpPr/>
          <p:nvPr/>
        </p:nvSpPr>
        <p:spPr>
          <a:xfrm>
            <a:off x="8494776" y="4507992"/>
            <a:ext cx="248716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teclado manual</a:t>
            </a:r>
            <a:endParaRPr lang="en-US" sz="800" dirty="0"/>
          </a:p>
        </p:txBody>
      </p:sp>
      <p:sp>
        <p:nvSpPr>
          <p:cNvPr id="144" name="Shape 142"/>
          <p:cNvSpPr/>
          <p:nvPr/>
        </p:nvSpPr>
        <p:spPr>
          <a:xfrm>
            <a:off x="292608" y="4759452"/>
            <a:ext cx="1353312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1682496" y="4759452"/>
            <a:ext cx="499262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711696" y="4759452"/>
            <a:ext cx="60350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7351776" y="4759452"/>
            <a:ext cx="110642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8494776" y="4759452"/>
            <a:ext cx="252374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338328" y="4796028"/>
            <a:ext cx="1298448" cy="196596"/>
          </a:xfrm>
          <a:prstGeom prst="roundRect">
            <a:avLst>
              <a:gd name="adj" fmla="val 32558"/>
            </a:avLst>
          </a:prstGeom>
          <a:solidFill>
            <a:srgbClr val="16A34A">
              <a:alpha val="25000"/>
            </a:srgbClr>
          </a:solidFill>
          <a:ln w="12700">
            <a:solidFill>
              <a:srgbClr val="16A34A">
                <a:alpha val="60000"/>
              </a:srgbClr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338328" y="4796028"/>
            <a:ext cx="1298448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2.4.1</a:t>
            </a:r>
            <a:endParaRPr lang="en-US" sz="900" dirty="0"/>
          </a:p>
        </p:txBody>
      </p:sp>
      <p:sp>
        <p:nvSpPr>
          <p:cNvPr id="151" name="Text 149"/>
          <p:cNvSpPr/>
          <p:nvPr/>
        </p:nvSpPr>
        <p:spPr>
          <a:xfrm>
            <a:off x="1682496" y="4777740"/>
            <a:ext cx="495604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Saltar bloques — SkipLink "Saltar al contenido"</a:t>
            </a:r>
            <a:endParaRPr lang="en-US" sz="850" dirty="0"/>
          </a:p>
        </p:txBody>
      </p:sp>
      <p:sp>
        <p:nvSpPr>
          <p:cNvPr id="152" name="Text 150"/>
          <p:cNvSpPr/>
          <p:nvPr/>
        </p:nvSpPr>
        <p:spPr>
          <a:xfrm>
            <a:off x="6711696" y="4759452"/>
            <a:ext cx="64008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153" name="Text 151"/>
          <p:cNvSpPr/>
          <p:nvPr/>
        </p:nvSpPr>
        <p:spPr>
          <a:xfrm>
            <a:off x="7351776" y="4759452"/>
            <a:ext cx="114300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154" name="Text 152"/>
          <p:cNvSpPr/>
          <p:nvPr/>
        </p:nvSpPr>
        <p:spPr>
          <a:xfrm>
            <a:off x="8494776" y="4777740"/>
            <a:ext cx="248716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teclado manual</a:t>
            </a:r>
            <a:endParaRPr lang="en-US" sz="800" dirty="0"/>
          </a:p>
        </p:txBody>
      </p:sp>
      <p:sp>
        <p:nvSpPr>
          <p:cNvPr id="155" name="Shape 153"/>
          <p:cNvSpPr/>
          <p:nvPr/>
        </p:nvSpPr>
        <p:spPr>
          <a:xfrm>
            <a:off x="292608" y="5029200"/>
            <a:ext cx="1353312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1682496" y="5029200"/>
            <a:ext cx="499262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6711696" y="5029200"/>
            <a:ext cx="60350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351776" y="5029200"/>
            <a:ext cx="110642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494776" y="5029200"/>
            <a:ext cx="252374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338328" y="5065776"/>
            <a:ext cx="1298448" cy="196596"/>
          </a:xfrm>
          <a:prstGeom prst="roundRect">
            <a:avLst>
              <a:gd name="adj" fmla="val 32558"/>
            </a:avLst>
          </a:prstGeom>
          <a:solidFill>
            <a:srgbClr val="16A34A">
              <a:alpha val="25000"/>
            </a:srgbClr>
          </a:solidFill>
          <a:ln w="12700">
            <a:solidFill>
              <a:srgbClr val="16A34A">
                <a:alpha val="60000"/>
              </a:srgbClr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338328" y="5065776"/>
            <a:ext cx="1298448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2.4.3</a:t>
            </a:r>
            <a:endParaRPr lang="en-US" sz="900" dirty="0"/>
          </a:p>
        </p:txBody>
      </p:sp>
      <p:sp>
        <p:nvSpPr>
          <p:cNvPr id="162" name="Text 160"/>
          <p:cNvSpPr/>
          <p:nvPr/>
        </p:nvSpPr>
        <p:spPr>
          <a:xfrm>
            <a:off x="1682496" y="5047488"/>
            <a:ext cx="495604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del foco — PageWrapper gestiona foco al navegar</a:t>
            </a:r>
            <a:endParaRPr lang="en-US" sz="850" dirty="0"/>
          </a:p>
        </p:txBody>
      </p:sp>
      <p:sp>
        <p:nvSpPr>
          <p:cNvPr id="163" name="Text 161"/>
          <p:cNvSpPr/>
          <p:nvPr/>
        </p:nvSpPr>
        <p:spPr>
          <a:xfrm>
            <a:off x="6711696" y="5029200"/>
            <a:ext cx="64008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164" name="Text 162"/>
          <p:cNvSpPr/>
          <p:nvPr/>
        </p:nvSpPr>
        <p:spPr>
          <a:xfrm>
            <a:off x="7351776" y="5029200"/>
            <a:ext cx="114300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165" name="Text 163"/>
          <p:cNvSpPr/>
          <p:nvPr/>
        </p:nvSpPr>
        <p:spPr>
          <a:xfrm>
            <a:off x="8494776" y="5047488"/>
            <a:ext cx="248716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NVDA + Chrome</a:t>
            </a:r>
            <a:endParaRPr lang="en-US" sz="800" dirty="0"/>
          </a:p>
        </p:txBody>
      </p:sp>
      <p:sp>
        <p:nvSpPr>
          <p:cNvPr id="166" name="Shape 164"/>
          <p:cNvSpPr/>
          <p:nvPr/>
        </p:nvSpPr>
        <p:spPr>
          <a:xfrm>
            <a:off x="292608" y="5298948"/>
            <a:ext cx="1353312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1682496" y="5298948"/>
            <a:ext cx="499262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711696" y="5298948"/>
            <a:ext cx="60350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7351776" y="5298948"/>
            <a:ext cx="110642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8494776" y="5298948"/>
            <a:ext cx="252374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338328" y="5335524"/>
            <a:ext cx="1298448" cy="196596"/>
          </a:xfrm>
          <a:prstGeom prst="roundRect">
            <a:avLst>
              <a:gd name="adj" fmla="val 32558"/>
            </a:avLst>
          </a:prstGeom>
          <a:solidFill>
            <a:srgbClr val="16A34A">
              <a:alpha val="25000"/>
            </a:srgbClr>
          </a:solidFill>
          <a:ln w="12700">
            <a:solidFill>
              <a:srgbClr val="16A34A">
                <a:alpha val="60000"/>
              </a:srgbClr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338328" y="5335524"/>
            <a:ext cx="1298448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2.4.7</a:t>
            </a:r>
            <a:endParaRPr lang="en-US" sz="900" dirty="0"/>
          </a:p>
        </p:txBody>
      </p:sp>
      <p:sp>
        <p:nvSpPr>
          <p:cNvPr id="173" name="Text 171"/>
          <p:cNvSpPr/>
          <p:nvPr/>
        </p:nvSpPr>
        <p:spPr>
          <a:xfrm>
            <a:off x="1682496" y="5317236"/>
            <a:ext cx="495604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visible — outline 3px teal en todos los elementos</a:t>
            </a:r>
            <a:endParaRPr lang="en-US" sz="850" dirty="0"/>
          </a:p>
        </p:txBody>
      </p:sp>
      <p:sp>
        <p:nvSpPr>
          <p:cNvPr id="174" name="Text 172"/>
          <p:cNvSpPr/>
          <p:nvPr/>
        </p:nvSpPr>
        <p:spPr>
          <a:xfrm>
            <a:off x="6711696" y="5298948"/>
            <a:ext cx="64008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</a:t>
            </a:r>
            <a:endParaRPr lang="en-US" sz="850" dirty="0"/>
          </a:p>
        </p:txBody>
      </p:sp>
      <p:sp>
        <p:nvSpPr>
          <p:cNvPr id="175" name="Text 173"/>
          <p:cNvSpPr/>
          <p:nvPr/>
        </p:nvSpPr>
        <p:spPr>
          <a:xfrm>
            <a:off x="7351776" y="5298948"/>
            <a:ext cx="114300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176" name="Text 174"/>
          <p:cNvSpPr/>
          <p:nvPr/>
        </p:nvSpPr>
        <p:spPr>
          <a:xfrm>
            <a:off x="8494776" y="5317236"/>
            <a:ext cx="248716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teclado manual</a:t>
            </a:r>
            <a:endParaRPr lang="en-US" sz="800" dirty="0"/>
          </a:p>
        </p:txBody>
      </p:sp>
      <p:sp>
        <p:nvSpPr>
          <p:cNvPr id="177" name="Shape 175"/>
          <p:cNvSpPr/>
          <p:nvPr/>
        </p:nvSpPr>
        <p:spPr>
          <a:xfrm>
            <a:off x="292608" y="5568696"/>
            <a:ext cx="1353312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1682496" y="5568696"/>
            <a:ext cx="499262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6711696" y="5568696"/>
            <a:ext cx="60350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351776" y="5568696"/>
            <a:ext cx="110642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8494776" y="5568696"/>
            <a:ext cx="252374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338328" y="5605272"/>
            <a:ext cx="1298448" cy="196596"/>
          </a:xfrm>
          <a:prstGeom prst="roundRect">
            <a:avLst>
              <a:gd name="adj" fmla="val 32558"/>
            </a:avLst>
          </a:prstGeom>
          <a:solidFill>
            <a:srgbClr val="16A34A">
              <a:alpha val="25000"/>
            </a:srgbClr>
          </a:solidFill>
          <a:ln w="12700">
            <a:solidFill>
              <a:srgbClr val="16A34A">
                <a:alpha val="60000"/>
              </a:srgbClr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338328" y="5605272"/>
            <a:ext cx="1298448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2.5.7</a:t>
            </a:r>
            <a:endParaRPr lang="en-US" sz="900" dirty="0"/>
          </a:p>
        </p:txBody>
      </p:sp>
      <p:sp>
        <p:nvSpPr>
          <p:cNvPr id="184" name="Text 182"/>
          <p:cNvSpPr/>
          <p:nvPr/>
        </p:nvSpPr>
        <p:spPr>
          <a:xfrm>
            <a:off x="1682496" y="5586984"/>
            <a:ext cx="495604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 arrastre — nav sr-only para cubo 3D</a:t>
            </a:r>
            <a:endParaRPr lang="en-US" sz="850" dirty="0"/>
          </a:p>
        </p:txBody>
      </p:sp>
      <p:sp>
        <p:nvSpPr>
          <p:cNvPr id="185" name="Text 183"/>
          <p:cNvSpPr/>
          <p:nvPr/>
        </p:nvSpPr>
        <p:spPr>
          <a:xfrm>
            <a:off x="6711696" y="5568696"/>
            <a:ext cx="64008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</a:t>
            </a:r>
            <a:endParaRPr lang="en-US" sz="850" dirty="0"/>
          </a:p>
        </p:txBody>
      </p:sp>
      <p:sp>
        <p:nvSpPr>
          <p:cNvPr id="186" name="Text 184"/>
          <p:cNvSpPr/>
          <p:nvPr/>
        </p:nvSpPr>
        <p:spPr>
          <a:xfrm>
            <a:off x="7351776" y="5568696"/>
            <a:ext cx="114300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187" name="Text 185"/>
          <p:cNvSpPr/>
          <p:nvPr/>
        </p:nvSpPr>
        <p:spPr>
          <a:xfrm>
            <a:off x="8494776" y="5586984"/>
            <a:ext cx="248716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manual</a:t>
            </a:r>
            <a:endParaRPr lang="en-US" sz="800" dirty="0"/>
          </a:p>
        </p:txBody>
      </p:sp>
      <p:sp>
        <p:nvSpPr>
          <p:cNvPr id="188" name="Shape 186"/>
          <p:cNvSpPr/>
          <p:nvPr/>
        </p:nvSpPr>
        <p:spPr>
          <a:xfrm>
            <a:off x="292608" y="5838444"/>
            <a:ext cx="1353312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1682496" y="5838444"/>
            <a:ext cx="499262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6711696" y="5838444"/>
            <a:ext cx="60350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7351776" y="5838444"/>
            <a:ext cx="110642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8494776" y="5838444"/>
            <a:ext cx="252374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338328" y="5875020"/>
            <a:ext cx="1298448" cy="196596"/>
          </a:xfrm>
          <a:prstGeom prst="roundRect">
            <a:avLst>
              <a:gd name="adj" fmla="val 32558"/>
            </a:avLst>
          </a:prstGeom>
          <a:solidFill>
            <a:srgbClr val="16A34A">
              <a:alpha val="25000"/>
            </a:srgbClr>
          </a:solidFill>
          <a:ln w="12700">
            <a:solidFill>
              <a:srgbClr val="16A34A">
                <a:alpha val="60000"/>
              </a:srgbClr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338328" y="5875020"/>
            <a:ext cx="1298448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3.1.1</a:t>
            </a:r>
            <a:endParaRPr lang="en-US" sz="900" dirty="0"/>
          </a:p>
        </p:txBody>
      </p:sp>
      <p:sp>
        <p:nvSpPr>
          <p:cNvPr id="195" name="Text 193"/>
          <p:cNvSpPr/>
          <p:nvPr/>
        </p:nvSpPr>
        <p:spPr>
          <a:xfrm>
            <a:off x="1682496" y="5856732"/>
            <a:ext cx="495604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Idioma de la página — &lt;html lang="es"&gt;</a:t>
            </a:r>
            <a:endParaRPr lang="en-US" sz="850" dirty="0"/>
          </a:p>
        </p:txBody>
      </p:sp>
      <p:sp>
        <p:nvSpPr>
          <p:cNvPr id="196" name="Text 194"/>
          <p:cNvSpPr/>
          <p:nvPr/>
        </p:nvSpPr>
        <p:spPr>
          <a:xfrm>
            <a:off x="6711696" y="5838444"/>
            <a:ext cx="64008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197" name="Text 195"/>
          <p:cNvSpPr/>
          <p:nvPr/>
        </p:nvSpPr>
        <p:spPr>
          <a:xfrm>
            <a:off x="7351776" y="5838444"/>
            <a:ext cx="114300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198" name="Text 196"/>
          <p:cNvSpPr/>
          <p:nvPr/>
        </p:nvSpPr>
        <p:spPr>
          <a:xfrm>
            <a:off x="8494776" y="5856732"/>
            <a:ext cx="248716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 · Pa11y</a:t>
            </a:r>
            <a:endParaRPr lang="en-US" sz="800" dirty="0"/>
          </a:p>
        </p:txBody>
      </p:sp>
      <p:sp>
        <p:nvSpPr>
          <p:cNvPr id="199" name="Shape 197"/>
          <p:cNvSpPr/>
          <p:nvPr/>
        </p:nvSpPr>
        <p:spPr>
          <a:xfrm>
            <a:off x="292608" y="6108192"/>
            <a:ext cx="1353312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1682496" y="6108192"/>
            <a:ext cx="499262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6711696" y="6108192"/>
            <a:ext cx="60350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351776" y="6108192"/>
            <a:ext cx="110642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8494776" y="6108192"/>
            <a:ext cx="252374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338328" y="6144768"/>
            <a:ext cx="1298448" cy="196596"/>
          </a:xfrm>
          <a:prstGeom prst="roundRect">
            <a:avLst>
              <a:gd name="adj" fmla="val 32558"/>
            </a:avLst>
          </a:prstGeom>
          <a:solidFill>
            <a:srgbClr val="16A34A">
              <a:alpha val="25000"/>
            </a:srgbClr>
          </a:solidFill>
          <a:ln w="12700">
            <a:solidFill>
              <a:srgbClr val="16A34A">
                <a:alpha val="60000"/>
              </a:srgbClr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338328" y="6144768"/>
            <a:ext cx="1298448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3.2.3</a:t>
            </a:r>
            <a:endParaRPr lang="en-US" sz="900" dirty="0"/>
          </a:p>
        </p:txBody>
      </p:sp>
      <p:sp>
        <p:nvSpPr>
          <p:cNvPr id="206" name="Text 204"/>
          <p:cNvSpPr/>
          <p:nvPr/>
        </p:nvSpPr>
        <p:spPr>
          <a:xfrm>
            <a:off x="1682496" y="6126480"/>
            <a:ext cx="495604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Navegación coherente — Navbar idéntico en todas las págs</a:t>
            </a:r>
            <a:endParaRPr lang="en-US" sz="850" dirty="0"/>
          </a:p>
        </p:txBody>
      </p:sp>
      <p:sp>
        <p:nvSpPr>
          <p:cNvPr id="207" name="Text 205"/>
          <p:cNvSpPr/>
          <p:nvPr/>
        </p:nvSpPr>
        <p:spPr>
          <a:xfrm>
            <a:off x="6711696" y="6108192"/>
            <a:ext cx="64008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</a:t>
            </a:r>
            <a:endParaRPr lang="en-US" sz="850" dirty="0"/>
          </a:p>
        </p:txBody>
      </p:sp>
      <p:sp>
        <p:nvSpPr>
          <p:cNvPr id="208" name="Text 206"/>
          <p:cNvSpPr/>
          <p:nvPr/>
        </p:nvSpPr>
        <p:spPr>
          <a:xfrm>
            <a:off x="7351776" y="6108192"/>
            <a:ext cx="114300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209" name="Text 207"/>
          <p:cNvSpPr/>
          <p:nvPr/>
        </p:nvSpPr>
        <p:spPr>
          <a:xfrm>
            <a:off x="8494776" y="6126480"/>
            <a:ext cx="248716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manual</a:t>
            </a:r>
            <a:endParaRPr lang="en-US" sz="800" dirty="0"/>
          </a:p>
        </p:txBody>
      </p:sp>
      <p:sp>
        <p:nvSpPr>
          <p:cNvPr id="210" name="Shape 208"/>
          <p:cNvSpPr/>
          <p:nvPr/>
        </p:nvSpPr>
        <p:spPr>
          <a:xfrm>
            <a:off x="292608" y="6377940"/>
            <a:ext cx="1353312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1682496" y="6377940"/>
            <a:ext cx="499262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6711696" y="6377940"/>
            <a:ext cx="60350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7351776" y="6377940"/>
            <a:ext cx="110642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8494776" y="6377940"/>
            <a:ext cx="252374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338328" y="6414516"/>
            <a:ext cx="1298448" cy="196596"/>
          </a:xfrm>
          <a:prstGeom prst="roundRect">
            <a:avLst>
              <a:gd name="adj" fmla="val 32558"/>
            </a:avLst>
          </a:prstGeom>
          <a:solidFill>
            <a:srgbClr val="16A34A">
              <a:alpha val="25000"/>
            </a:srgbClr>
          </a:solidFill>
          <a:ln w="12700">
            <a:solidFill>
              <a:srgbClr val="16A34A">
                <a:alpha val="60000"/>
              </a:srgbClr>
            </a:solidFill>
            <a:prstDash val="solid"/>
          </a:ln>
        </p:spPr>
      </p:sp>
      <p:sp>
        <p:nvSpPr>
          <p:cNvPr id="216" name="Text 214"/>
          <p:cNvSpPr/>
          <p:nvPr/>
        </p:nvSpPr>
        <p:spPr>
          <a:xfrm>
            <a:off x="338328" y="6414516"/>
            <a:ext cx="1298448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3.2.6</a:t>
            </a:r>
            <a:endParaRPr lang="en-US" sz="900" dirty="0"/>
          </a:p>
        </p:txBody>
      </p:sp>
      <p:sp>
        <p:nvSpPr>
          <p:cNvPr id="217" name="Text 215"/>
          <p:cNvSpPr/>
          <p:nvPr/>
        </p:nvSpPr>
        <p:spPr>
          <a:xfrm>
            <a:off x="1682496" y="6396228"/>
            <a:ext cx="495604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Ayuda consistente — contacto en footer en todas las págs</a:t>
            </a:r>
            <a:endParaRPr lang="en-US" sz="850" dirty="0"/>
          </a:p>
        </p:txBody>
      </p:sp>
      <p:sp>
        <p:nvSpPr>
          <p:cNvPr id="218" name="Text 216"/>
          <p:cNvSpPr/>
          <p:nvPr/>
        </p:nvSpPr>
        <p:spPr>
          <a:xfrm>
            <a:off x="6711696" y="6377940"/>
            <a:ext cx="64008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</a:t>
            </a:r>
            <a:endParaRPr lang="en-US" sz="850" dirty="0"/>
          </a:p>
        </p:txBody>
      </p:sp>
      <p:sp>
        <p:nvSpPr>
          <p:cNvPr id="219" name="Text 217"/>
          <p:cNvSpPr/>
          <p:nvPr/>
        </p:nvSpPr>
        <p:spPr>
          <a:xfrm>
            <a:off x="7351776" y="6377940"/>
            <a:ext cx="114300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220" name="Text 218"/>
          <p:cNvSpPr/>
          <p:nvPr/>
        </p:nvSpPr>
        <p:spPr>
          <a:xfrm>
            <a:off x="8494776" y="6396228"/>
            <a:ext cx="248716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manual</a:t>
            </a:r>
            <a:endParaRPr lang="en-US" sz="800" dirty="0"/>
          </a:p>
        </p:txBody>
      </p:sp>
      <p:sp>
        <p:nvSpPr>
          <p:cNvPr id="221" name="Shape 219"/>
          <p:cNvSpPr/>
          <p:nvPr/>
        </p:nvSpPr>
        <p:spPr>
          <a:xfrm>
            <a:off x="292608" y="6647688"/>
            <a:ext cx="1353312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1682496" y="6647688"/>
            <a:ext cx="499262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711696" y="6647688"/>
            <a:ext cx="60350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351776" y="6647688"/>
            <a:ext cx="110642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8494776" y="6647688"/>
            <a:ext cx="252374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338328" y="6684264"/>
            <a:ext cx="1298448" cy="196596"/>
          </a:xfrm>
          <a:prstGeom prst="roundRect">
            <a:avLst>
              <a:gd name="adj" fmla="val 32558"/>
            </a:avLst>
          </a:prstGeom>
          <a:solidFill>
            <a:srgbClr val="16A34A">
              <a:alpha val="25000"/>
            </a:srgbClr>
          </a:solidFill>
          <a:ln w="12700">
            <a:solidFill>
              <a:srgbClr val="16A34A">
                <a:alpha val="60000"/>
              </a:srgbClr>
            </a:solidFill>
            <a:prstDash val="solid"/>
          </a:ln>
        </p:spPr>
      </p:sp>
      <p:sp>
        <p:nvSpPr>
          <p:cNvPr id="227" name="Text 225"/>
          <p:cNvSpPr/>
          <p:nvPr/>
        </p:nvSpPr>
        <p:spPr>
          <a:xfrm>
            <a:off x="338328" y="6684264"/>
            <a:ext cx="1298448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3.3.1</a:t>
            </a:r>
            <a:endParaRPr lang="en-US" sz="900" dirty="0"/>
          </a:p>
        </p:txBody>
      </p:sp>
      <p:sp>
        <p:nvSpPr>
          <p:cNvPr id="228" name="Text 226"/>
          <p:cNvSpPr/>
          <p:nvPr/>
        </p:nvSpPr>
        <p:spPr>
          <a:xfrm>
            <a:off x="1682496" y="6665976"/>
            <a:ext cx="495604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Identificación de errores — role="alert" en validación</a:t>
            </a:r>
            <a:endParaRPr lang="en-US" sz="850" dirty="0"/>
          </a:p>
        </p:txBody>
      </p:sp>
      <p:sp>
        <p:nvSpPr>
          <p:cNvPr id="229" name="Text 227"/>
          <p:cNvSpPr/>
          <p:nvPr/>
        </p:nvSpPr>
        <p:spPr>
          <a:xfrm>
            <a:off x="6711696" y="6647688"/>
            <a:ext cx="64008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30" name="Text 228"/>
          <p:cNvSpPr/>
          <p:nvPr/>
        </p:nvSpPr>
        <p:spPr>
          <a:xfrm>
            <a:off x="7351776" y="6647688"/>
            <a:ext cx="114300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231" name="Text 229"/>
          <p:cNvSpPr/>
          <p:nvPr/>
        </p:nvSpPr>
        <p:spPr>
          <a:xfrm>
            <a:off x="8494776" y="6665976"/>
            <a:ext cx="248716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 · NVDA</a:t>
            </a:r>
            <a:endParaRPr lang="en-US" sz="800" dirty="0"/>
          </a:p>
        </p:txBody>
      </p:sp>
      <p:sp>
        <p:nvSpPr>
          <p:cNvPr id="232" name="Shape 230"/>
          <p:cNvSpPr/>
          <p:nvPr/>
        </p:nvSpPr>
        <p:spPr>
          <a:xfrm>
            <a:off x="292608" y="6917436"/>
            <a:ext cx="1353312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1682496" y="6917436"/>
            <a:ext cx="499262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6711696" y="6917436"/>
            <a:ext cx="60350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7351776" y="6917436"/>
            <a:ext cx="110642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8494776" y="6917436"/>
            <a:ext cx="252374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338328" y="6954012"/>
            <a:ext cx="1298448" cy="196596"/>
          </a:xfrm>
          <a:prstGeom prst="roundRect">
            <a:avLst>
              <a:gd name="adj" fmla="val 32558"/>
            </a:avLst>
          </a:prstGeom>
          <a:solidFill>
            <a:srgbClr val="16A34A">
              <a:alpha val="25000"/>
            </a:srgbClr>
          </a:solidFill>
          <a:ln w="12700">
            <a:solidFill>
              <a:srgbClr val="16A34A">
                <a:alpha val="60000"/>
              </a:srgbClr>
            </a:solidFill>
            <a:prstDash val="solid"/>
          </a:ln>
        </p:spPr>
      </p:sp>
      <p:sp>
        <p:nvSpPr>
          <p:cNvPr id="238" name="Text 236"/>
          <p:cNvSpPr/>
          <p:nvPr/>
        </p:nvSpPr>
        <p:spPr>
          <a:xfrm>
            <a:off x="338328" y="6954012"/>
            <a:ext cx="1298448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3.3.2</a:t>
            </a:r>
            <a:endParaRPr lang="en-US" sz="900" dirty="0"/>
          </a:p>
        </p:txBody>
      </p:sp>
      <p:sp>
        <p:nvSpPr>
          <p:cNvPr id="239" name="Text 237"/>
          <p:cNvSpPr/>
          <p:nvPr/>
        </p:nvSpPr>
        <p:spPr>
          <a:xfrm>
            <a:off x="1682496" y="6935724"/>
            <a:ext cx="495604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Etiquetas o instrucciones — &lt;label&gt; visible en forms</a:t>
            </a:r>
            <a:endParaRPr lang="en-US" sz="850" dirty="0"/>
          </a:p>
        </p:txBody>
      </p:sp>
      <p:sp>
        <p:nvSpPr>
          <p:cNvPr id="240" name="Text 238"/>
          <p:cNvSpPr/>
          <p:nvPr/>
        </p:nvSpPr>
        <p:spPr>
          <a:xfrm>
            <a:off x="6711696" y="6917436"/>
            <a:ext cx="64008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41" name="Text 239"/>
          <p:cNvSpPr/>
          <p:nvPr/>
        </p:nvSpPr>
        <p:spPr>
          <a:xfrm>
            <a:off x="7351776" y="6917436"/>
            <a:ext cx="114300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242" name="Text 240"/>
          <p:cNvSpPr/>
          <p:nvPr/>
        </p:nvSpPr>
        <p:spPr>
          <a:xfrm>
            <a:off x="8494776" y="6935724"/>
            <a:ext cx="248716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 DevTools</a:t>
            </a:r>
            <a:endParaRPr lang="en-US" sz="800" dirty="0"/>
          </a:p>
        </p:txBody>
      </p:sp>
      <p:sp>
        <p:nvSpPr>
          <p:cNvPr id="243" name="Shape 241"/>
          <p:cNvSpPr/>
          <p:nvPr/>
        </p:nvSpPr>
        <p:spPr>
          <a:xfrm>
            <a:off x="292608" y="7187184"/>
            <a:ext cx="1353312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1682496" y="7187184"/>
            <a:ext cx="499262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711696" y="7187184"/>
            <a:ext cx="60350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7351776" y="7187184"/>
            <a:ext cx="110642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8494776" y="7187184"/>
            <a:ext cx="252374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338328" y="7223760"/>
            <a:ext cx="1298448" cy="196596"/>
          </a:xfrm>
          <a:prstGeom prst="roundRect">
            <a:avLst>
              <a:gd name="adj" fmla="val 32558"/>
            </a:avLst>
          </a:prstGeom>
          <a:solidFill>
            <a:srgbClr val="16A34A">
              <a:alpha val="25000"/>
            </a:srgbClr>
          </a:solidFill>
          <a:ln w="12700">
            <a:solidFill>
              <a:srgbClr val="16A34A">
                <a:alpha val="60000"/>
              </a:srgbClr>
            </a:solidFill>
            <a:prstDash val="solid"/>
          </a:ln>
        </p:spPr>
      </p:sp>
      <p:sp>
        <p:nvSpPr>
          <p:cNvPr id="249" name="Text 247"/>
          <p:cNvSpPr/>
          <p:nvPr/>
        </p:nvSpPr>
        <p:spPr>
          <a:xfrm>
            <a:off x="338328" y="7223760"/>
            <a:ext cx="1298448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4.1.1</a:t>
            </a:r>
            <a:endParaRPr lang="en-US" sz="900" dirty="0"/>
          </a:p>
        </p:txBody>
      </p:sp>
      <p:sp>
        <p:nvSpPr>
          <p:cNvPr id="250" name="Text 248"/>
          <p:cNvSpPr/>
          <p:nvPr/>
        </p:nvSpPr>
        <p:spPr>
          <a:xfrm>
            <a:off x="1682496" y="7205472"/>
            <a:ext cx="495604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sintáctico — HTML válido, sin IDs duplicados</a:t>
            </a:r>
            <a:endParaRPr lang="en-US" sz="850" dirty="0"/>
          </a:p>
        </p:txBody>
      </p:sp>
      <p:sp>
        <p:nvSpPr>
          <p:cNvPr id="251" name="Text 249"/>
          <p:cNvSpPr/>
          <p:nvPr/>
        </p:nvSpPr>
        <p:spPr>
          <a:xfrm>
            <a:off x="6711696" y="7187184"/>
            <a:ext cx="64008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52" name="Text 250"/>
          <p:cNvSpPr/>
          <p:nvPr/>
        </p:nvSpPr>
        <p:spPr>
          <a:xfrm>
            <a:off x="7351776" y="7187184"/>
            <a:ext cx="114300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253" name="Text 251"/>
          <p:cNvSpPr/>
          <p:nvPr/>
        </p:nvSpPr>
        <p:spPr>
          <a:xfrm>
            <a:off x="8494776" y="7205472"/>
            <a:ext cx="248716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 · W3C</a:t>
            </a:r>
            <a:endParaRPr lang="en-US" sz="800" dirty="0"/>
          </a:p>
        </p:txBody>
      </p:sp>
      <p:sp>
        <p:nvSpPr>
          <p:cNvPr id="254" name="Shape 252"/>
          <p:cNvSpPr/>
          <p:nvPr/>
        </p:nvSpPr>
        <p:spPr>
          <a:xfrm>
            <a:off x="292608" y="7456932"/>
            <a:ext cx="1353312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1682496" y="7456932"/>
            <a:ext cx="499262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6711696" y="7456932"/>
            <a:ext cx="60350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351776" y="7456932"/>
            <a:ext cx="110642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494776" y="7456932"/>
            <a:ext cx="252374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338328" y="7493508"/>
            <a:ext cx="1298448" cy="196596"/>
          </a:xfrm>
          <a:prstGeom prst="roundRect">
            <a:avLst>
              <a:gd name="adj" fmla="val 32558"/>
            </a:avLst>
          </a:prstGeom>
          <a:solidFill>
            <a:srgbClr val="16A34A">
              <a:alpha val="25000"/>
            </a:srgbClr>
          </a:solidFill>
          <a:ln w="12700">
            <a:solidFill>
              <a:srgbClr val="16A34A">
                <a:alpha val="60000"/>
              </a:srgbClr>
            </a:solidFill>
            <a:prstDash val="solid"/>
          </a:ln>
        </p:spPr>
      </p:sp>
      <p:sp>
        <p:nvSpPr>
          <p:cNvPr id="260" name="Text 258"/>
          <p:cNvSpPr/>
          <p:nvPr/>
        </p:nvSpPr>
        <p:spPr>
          <a:xfrm>
            <a:off x="338328" y="7493508"/>
            <a:ext cx="1298448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4.1.2</a:t>
            </a:r>
            <a:endParaRPr lang="en-US" sz="900" dirty="0"/>
          </a:p>
        </p:txBody>
      </p:sp>
      <p:sp>
        <p:nvSpPr>
          <p:cNvPr id="261" name="Text 259"/>
          <p:cNvSpPr/>
          <p:nvPr/>
        </p:nvSpPr>
        <p:spPr>
          <a:xfrm>
            <a:off x="1682496" y="7475220"/>
            <a:ext cx="495604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Nombre/función/valor — aria-* correctos, no prohibidos</a:t>
            </a:r>
            <a:endParaRPr lang="en-US" sz="850" dirty="0"/>
          </a:p>
        </p:txBody>
      </p:sp>
      <p:sp>
        <p:nvSpPr>
          <p:cNvPr id="262" name="Text 260"/>
          <p:cNvSpPr/>
          <p:nvPr/>
        </p:nvSpPr>
        <p:spPr>
          <a:xfrm>
            <a:off x="6711696" y="7456932"/>
            <a:ext cx="64008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63" name="Text 261"/>
          <p:cNvSpPr/>
          <p:nvPr/>
        </p:nvSpPr>
        <p:spPr>
          <a:xfrm>
            <a:off x="7351776" y="7456932"/>
            <a:ext cx="114300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264" name="Text 262"/>
          <p:cNvSpPr/>
          <p:nvPr/>
        </p:nvSpPr>
        <p:spPr>
          <a:xfrm>
            <a:off x="8494776" y="7475220"/>
            <a:ext cx="248716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 4.9</a:t>
            </a:r>
            <a:endParaRPr lang="en-US" sz="800" dirty="0"/>
          </a:p>
        </p:txBody>
      </p:sp>
      <p:sp>
        <p:nvSpPr>
          <p:cNvPr id="265" name="Shape 263"/>
          <p:cNvSpPr/>
          <p:nvPr/>
        </p:nvSpPr>
        <p:spPr>
          <a:xfrm>
            <a:off x="292608" y="7726680"/>
            <a:ext cx="1353312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1682496" y="7726680"/>
            <a:ext cx="499262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711696" y="7726680"/>
            <a:ext cx="60350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7351776" y="7726680"/>
            <a:ext cx="110642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8494776" y="7726680"/>
            <a:ext cx="2523744" cy="2697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338328" y="7763256"/>
            <a:ext cx="1298448" cy="196596"/>
          </a:xfrm>
          <a:prstGeom prst="roundRect">
            <a:avLst>
              <a:gd name="adj" fmla="val 32558"/>
            </a:avLst>
          </a:prstGeom>
          <a:solidFill>
            <a:srgbClr val="16A34A">
              <a:alpha val="25000"/>
            </a:srgbClr>
          </a:solidFill>
          <a:ln w="12700">
            <a:solidFill>
              <a:srgbClr val="16A34A">
                <a:alpha val="60000"/>
              </a:srgbClr>
            </a:solidFill>
            <a:prstDash val="solid"/>
          </a:ln>
        </p:spPr>
      </p:sp>
      <p:sp>
        <p:nvSpPr>
          <p:cNvPr id="271" name="Text 269"/>
          <p:cNvSpPr/>
          <p:nvPr/>
        </p:nvSpPr>
        <p:spPr>
          <a:xfrm>
            <a:off x="338328" y="7763256"/>
            <a:ext cx="1298448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4.1.3</a:t>
            </a:r>
            <a:endParaRPr lang="en-US" sz="900" dirty="0"/>
          </a:p>
        </p:txBody>
      </p:sp>
      <p:sp>
        <p:nvSpPr>
          <p:cNvPr id="272" name="Text 270"/>
          <p:cNvSpPr/>
          <p:nvPr/>
        </p:nvSpPr>
        <p:spPr>
          <a:xfrm>
            <a:off x="1682496" y="7744968"/>
            <a:ext cx="495604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Mensajes de estado — role="status" en spinners</a:t>
            </a:r>
            <a:endParaRPr lang="en-US" sz="850" dirty="0"/>
          </a:p>
        </p:txBody>
      </p:sp>
      <p:sp>
        <p:nvSpPr>
          <p:cNvPr id="273" name="Text 271"/>
          <p:cNvSpPr/>
          <p:nvPr/>
        </p:nvSpPr>
        <p:spPr>
          <a:xfrm>
            <a:off x="6711696" y="7726680"/>
            <a:ext cx="64008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</a:t>
            </a:r>
            <a:endParaRPr lang="en-US" sz="850" dirty="0"/>
          </a:p>
        </p:txBody>
      </p:sp>
      <p:sp>
        <p:nvSpPr>
          <p:cNvPr id="274" name="Text 272"/>
          <p:cNvSpPr/>
          <p:nvPr/>
        </p:nvSpPr>
        <p:spPr>
          <a:xfrm>
            <a:off x="7351776" y="7726680"/>
            <a:ext cx="114300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275" name="Text 273"/>
          <p:cNvSpPr/>
          <p:nvPr/>
        </p:nvSpPr>
        <p:spPr>
          <a:xfrm>
            <a:off x="8494776" y="7744968"/>
            <a:ext cx="248716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 DevTools</a:t>
            </a:r>
            <a:endParaRPr lang="en-US" sz="800" dirty="0"/>
          </a:p>
        </p:txBody>
      </p:sp>
      <p:sp>
        <p:nvSpPr>
          <p:cNvPr id="276" name="Shape 274"/>
          <p:cNvSpPr/>
          <p:nvPr/>
        </p:nvSpPr>
        <p:spPr>
          <a:xfrm>
            <a:off x="292608" y="7996428"/>
            <a:ext cx="1353312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1682496" y="7996428"/>
            <a:ext cx="499262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6711696" y="7996428"/>
            <a:ext cx="60350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351776" y="7996428"/>
            <a:ext cx="110642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8494776" y="7996428"/>
            <a:ext cx="2523744" cy="2697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338328" y="8033004"/>
            <a:ext cx="1298448" cy="196596"/>
          </a:xfrm>
          <a:prstGeom prst="roundRect">
            <a:avLst>
              <a:gd name="adj" fmla="val 32558"/>
            </a:avLst>
          </a:prstGeom>
          <a:solidFill>
            <a:srgbClr val="F59E0B">
              <a:alpha val="25000"/>
            </a:srgbClr>
          </a:solidFill>
          <a:ln w="12700">
            <a:solidFill>
              <a:srgbClr val="F59E0B">
                <a:alpha val="60000"/>
              </a:srgbClr>
            </a:solidFill>
            <a:prstDash val="solid"/>
          </a:ln>
        </p:spPr>
      </p:sp>
      <p:sp>
        <p:nvSpPr>
          <p:cNvPr id="282" name="Text 280"/>
          <p:cNvSpPr/>
          <p:nvPr/>
        </p:nvSpPr>
        <p:spPr>
          <a:xfrm>
            <a:off x="338328" y="8033004"/>
            <a:ext cx="1298448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CLS</a:t>
            </a:r>
            <a:endParaRPr lang="en-US" sz="900" dirty="0"/>
          </a:p>
        </p:txBody>
      </p:sp>
      <p:sp>
        <p:nvSpPr>
          <p:cNvPr id="283" name="Text 281"/>
          <p:cNvSpPr/>
          <p:nvPr/>
        </p:nvSpPr>
        <p:spPr>
          <a:xfrm>
            <a:off x="1682496" y="8014716"/>
            <a:ext cx="495604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Layout Shift — shimmer→transform (Sprint 3)</a:t>
            </a:r>
            <a:endParaRPr lang="en-US" sz="850" dirty="0"/>
          </a:p>
        </p:txBody>
      </p:sp>
      <p:sp>
        <p:nvSpPr>
          <p:cNvPr id="284" name="Text 282"/>
          <p:cNvSpPr/>
          <p:nvPr/>
        </p:nvSpPr>
        <p:spPr>
          <a:xfrm>
            <a:off x="6711696" y="7996428"/>
            <a:ext cx="64008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</a:t>
            </a:r>
            <a:endParaRPr lang="en-US" sz="850" dirty="0"/>
          </a:p>
        </p:txBody>
      </p:sp>
      <p:sp>
        <p:nvSpPr>
          <p:cNvPr id="285" name="Text 283"/>
          <p:cNvSpPr/>
          <p:nvPr/>
        </p:nvSpPr>
        <p:spPr>
          <a:xfrm>
            <a:off x="7351776" y="7996428"/>
            <a:ext cx="114300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100" dirty="0"/>
          </a:p>
        </p:txBody>
      </p:sp>
      <p:sp>
        <p:nvSpPr>
          <p:cNvPr id="286" name="Text 284"/>
          <p:cNvSpPr/>
          <p:nvPr/>
        </p:nvSpPr>
        <p:spPr>
          <a:xfrm>
            <a:off x="8494776" y="8014716"/>
            <a:ext cx="2487168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PageSpeed</a:t>
            </a:r>
            <a:endParaRPr lang="en-US" sz="800" dirty="0"/>
          </a:p>
        </p:txBody>
      </p:sp>
      <p:sp>
        <p:nvSpPr>
          <p:cNvPr id="287" name="Shape 285"/>
          <p:cNvSpPr/>
          <p:nvPr/>
        </p:nvSpPr>
        <p:spPr>
          <a:xfrm>
            <a:off x="292608" y="8339328"/>
            <a:ext cx="11375136" cy="402336"/>
          </a:xfrm>
          <a:prstGeom prst="roundRect">
            <a:avLst>
              <a:gd name="adj" fmla="val 22727"/>
            </a:avLst>
          </a:prstGeom>
          <a:solidFill>
            <a:srgbClr val="1A2E4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88" name="Text 286"/>
          <p:cNvSpPr/>
          <p:nvPr/>
        </p:nvSpPr>
        <p:spPr>
          <a:xfrm>
            <a:off x="411480" y="8339328"/>
            <a:ext cx="11155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Total evaluado: 24 criterios  ·  ✅ 22 implementados (91.7%)  ·  ⚠️ 1 parcial  ·  ⏳ 1 pendiente (Sprint 3)  ·  Herramientas: 7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256032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109728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 Evaluación de Accesibilidad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47472" y="1005840"/>
            <a:ext cx="3712464" cy="2514600"/>
          </a:xfrm>
          <a:prstGeom prst="roundRect">
            <a:avLst>
              <a:gd name="adj" fmla="val 5091"/>
            </a:avLst>
          </a:prstGeom>
          <a:solidFill>
            <a:srgbClr val="1A2E42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115568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🔧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216152" y="1097280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 DevTools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16152" y="1444752"/>
            <a:ext cx="2724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v4.9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" y="1874520"/>
            <a:ext cx="14630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1920240" y="21031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violaciones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3493008" cy="0"/>
          </a:xfrm>
          <a:prstGeom prst="line">
            <a:avLst/>
          </a:prstGeom>
          <a:noFill/>
          <a:ln w="10160">
            <a:solidFill>
              <a:srgbClr val="16A34A">
                <a:alpha val="5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880360"/>
            <a:ext cx="34930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críticas · 0 graves · 0 moderadas en todas las páginas públicas evaluadas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06240" y="1005840"/>
            <a:ext cx="3712464" cy="2514600"/>
          </a:xfrm>
          <a:prstGeom prst="roundRect">
            <a:avLst>
              <a:gd name="adj" fmla="val 5091"/>
            </a:avLst>
          </a:prstGeom>
          <a:solidFill>
            <a:srgbClr val="1A2E42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15968" y="1115568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🔍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074920" y="1097280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74920" y="1444752"/>
            <a:ext cx="2724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13.4.0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315968" y="1874520"/>
            <a:ext cx="14630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5779008" y="21031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15968" y="2788920"/>
            <a:ext cx="3493008" cy="0"/>
          </a:xfrm>
          <a:prstGeom prst="line">
            <a:avLst/>
          </a:prstGeom>
          <a:noFill/>
          <a:ln w="10160">
            <a:solidFill>
              <a:srgbClr val="22D3EE">
                <a:alpha val="5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15968" y="2880360"/>
            <a:ext cx="34930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92/100 · Best Practices 96/100 · SEO 100/100 (PageSpeed Insights)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065008" y="1005840"/>
            <a:ext cx="3712464" cy="2514600"/>
          </a:xfrm>
          <a:prstGeom prst="roundRect">
            <a:avLst>
              <a:gd name="adj" fmla="val 5091"/>
            </a:avLst>
          </a:prstGeom>
          <a:solidFill>
            <a:srgbClr val="1A2E42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74736" y="1115568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🌊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933688" y="1097280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933688" y="1444752"/>
            <a:ext cx="2724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WebAIM v3.2.7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174736" y="1874520"/>
            <a:ext cx="14630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800" dirty="0"/>
          </a:p>
        </p:txBody>
      </p:sp>
      <p:sp>
        <p:nvSpPr>
          <p:cNvPr id="28" name="Text 26"/>
          <p:cNvSpPr/>
          <p:nvPr/>
        </p:nvSpPr>
        <p:spPr>
          <a:xfrm>
            <a:off x="9637776" y="21031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174736" y="2788920"/>
            <a:ext cx="3493008" cy="0"/>
          </a:xfrm>
          <a:prstGeom prst="line">
            <a:avLst/>
          </a:prstGeom>
          <a:noFill/>
          <a:ln w="10160">
            <a:solidFill>
              <a:srgbClr val="16A34A">
                <a:alpha val="5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174736" y="2880360"/>
            <a:ext cx="34930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errores · 0 contrast errors · 2 alertas SPA (falsos positivos documentados)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472" y="3675888"/>
            <a:ext cx="3712464" cy="2514600"/>
          </a:xfrm>
          <a:prstGeom prst="roundRect">
            <a:avLst>
              <a:gd name="adj" fmla="val 5091"/>
            </a:avLst>
          </a:prstGeom>
          <a:solidFill>
            <a:srgbClr val="1A2E42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3785616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🖥️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1216152" y="3767328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Pa11y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216152" y="4114800"/>
            <a:ext cx="2724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9.1.1 WCAG2AA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57200" y="4544568"/>
            <a:ext cx="14630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800" dirty="0"/>
          </a:p>
        </p:txBody>
      </p:sp>
      <p:sp>
        <p:nvSpPr>
          <p:cNvPr id="36" name="Text 34"/>
          <p:cNvSpPr/>
          <p:nvPr/>
        </p:nvSpPr>
        <p:spPr>
          <a:xfrm>
            <a:off x="1920240" y="477316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reales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57200" y="5458968"/>
            <a:ext cx="3493008" cy="0"/>
          </a:xfrm>
          <a:prstGeom prst="line">
            <a:avLst/>
          </a:prstGeom>
          <a:noFill/>
          <a:ln w="10160">
            <a:solidFill>
              <a:srgbClr val="16A34A">
                <a:alpha val="50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5550408"/>
            <a:ext cx="34930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issues de contraste detectados y corregidos el mismo día · 6 FP documentados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206240" y="3675888"/>
            <a:ext cx="3712464" cy="2514600"/>
          </a:xfrm>
          <a:prstGeom prst="roundRect">
            <a:avLst>
              <a:gd name="adj" fmla="val 5091"/>
            </a:avLst>
          </a:prstGeom>
          <a:solidFill>
            <a:srgbClr val="1A2E42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15968" y="3785616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🔊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5074920" y="3767328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NVDA + Chrome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5074920" y="4114800"/>
            <a:ext cx="2724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2024.1 + 126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4315968" y="4544568"/>
            <a:ext cx="14630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3800" dirty="0"/>
          </a:p>
        </p:txBody>
      </p:sp>
      <p:sp>
        <p:nvSpPr>
          <p:cNvPr id="44" name="Text 42"/>
          <p:cNvSpPr/>
          <p:nvPr/>
        </p:nvSpPr>
        <p:spPr>
          <a:xfrm>
            <a:off x="5779008" y="477316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315968" y="5458968"/>
            <a:ext cx="3493008" cy="0"/>
          </a:xfrm>
          <a:prstGeom prst="line">
            <a:avLst/>
          </a:prstGeom>
          <a:noFill/>
          <a:ln w="10160">
            <a:solidFill>
              <a:srgbClr val="22D3EE">
                <a:alpha val="5000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315968" y="5550408"/>
            <a:ext cx="34930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Landmarks · H1→H3 correctos · aria-expanded · formularios · errores anunciados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8065008" y="3675888"/>
            <a:ext cx="3712464" cy="2514600"/>
          </a:xfrm>
          <a:prstGeom prst="roundRect">
            <a:avLst>
              <a:gd name="adj" fmla="val 5091"/>
            </a:avLst>
          </a:prstGeom>
          <a:solidFill>
            <a:srgbClr val="1A2E42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174736" y="3785616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49" name="Text 47"/>
          <p:cNvSpPr/>
          <p:nvPr/>
        </p:nvSpPr>
        <p:spPr>
          <a:xfrm>
            <a:off x="8933688" y="3767328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PageSpeed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8933688" y="4114800"/>
            <a:ext cx="2724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Web Vitals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8174736" y="4544568"/>
            <a:ext cx="14630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3800" dirty="0"/>
          </a:p>
        </p:txBody>
      </p:sp>
      <p:sp>
        <p:nvSpPr>
          <p:cNvPr id="52" name="Text 50"/>
          <p:cNvSpPr/>
          <p:nvPr/>
        </p:nvSpPr>
        <p:spPr>
          <a:xfrm>
            <a:off x="9637776" y="477316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escritorio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8174736" y="5458968"/>
            <a:ext cx="3493008" cy="0"/>
          </a:xfrm>
          <a:prstGeom prst="line">
            <a:avLst/>
          </a:prstGeom>
          <a:noFill/>
          <a:ln w="10160">
            <a:solidFill>
              <a:srgbClr val="F59E0B">
                <a:alpha val="5000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174736" y="5550408"/>
            <a:ext cx="34930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FCP 1.2s · LCP 2.8s · CLS en mejora (Sprint 3) · Móvil 66/100 (red lenta)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256032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Y RENDIMIENTO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109728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Web · Rendimiento · Firebase Rules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20040" y="960120"/>
            <a:ext cx="5577840" cy="5623560"/>
          </a:xfrm>
          <a:prstGeom prst="roundRect">
            <a:avLst>
              <a:gd name="adj" fmla="val 2295"/>
            </a:avLst>
          </a:prstGeom>
          <a:solidFill>
            <a:srgbClr val="1A2E42"/>
          </a:solidFill>
          <a:ln w="19050">
            <a:solidFill>
              <a:srgbClr val="EA580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960120"/>
            <a:ext cx="5577840" cy="658368"/>
          </a:xfrm>
          <a:prstGeom prst="roundRect">
            <a:avLst>
              <a:gd name="adj" fmla="val 19444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960120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 Cabeceras HTTP de Seguridad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1737360"/>
            <a:ext cx="5376672" cy="658368"/>
          </a:xfrm>
          <a:prstGeom prst="roundRect">
            <a:avLst>
              <a:gd name="adj" fmla="val 11111"/>
            </a:avLst>
          </a:prstGeom>
          <a:solidFill>
            <a:srgbClr val="1A1000"/>
          </a:solidFill>
          <a:ln w="6350">
            <a:solidFill>
              <a:srgbClr val="EA58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1764792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Content-Security-Policy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30352" y="2020824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Restringe fuentes de scripts, estilos e imágenes (CSP)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11480" y="2487168"/>
            <a:ext cx="5376672" cy="658368"/>
          </a:xfrm>
          <a:prstGeom prst="roundRect">
            <a:avLst>
              <a:gd name="adj" fmla="val 11111"/>
            </a:avLst>
          </a:prstGeom>
          <a:solidFill>
            <a:srgbClr val="1A1000"/>
          </a:solidFill>
          <a:ln w="6350">
            <a:solidFill>
              <a:srgbClr val="EA580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2514600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Strict-Transport-Security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30352" y="2770632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Fuerza HTTPS · max-age=63072000 + preload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11480" y="3236976"/>
            <a:ext cx="5376672" cy="658368"/>
          </a:xfrm>
          <a:prstGeom prst="roundRect">
            <a:avLst>
              <a:gd name="adj" fmla="val 11111"/>
            </a:avLst>
          </a:prstGeom>
          <a:solidFill>
            <a:srgbClr val="1A1000"/>
          </a:solidFill>
          <a:ln w="6350">
            <a:solidFill>
              <a:srgbClr val="EA580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0352" y="3264408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X-Frame-Options: DENY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" y="3520440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Previene clickjacking y framing malicioso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1480" y="3986784"/>
            <a:ext cx="5376672" cy="658368"/>
          </a:xfrm>
          <a:prstGeom prst="roundRect">
            <a:avLst>
              <a:gd name="adj" fmla="val 11111"/>
            </a:avLst>
          </a:prstGeom>
          <a:solidFill>
            <a:srgbClr val="1A1000"/>
          </a:solidFill>
          <a:ln w="6350">
            <a:solidFill>
              <a:srgbClr val="EA580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" y="4014216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X-Content-Type-Options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30352" y="4270248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nosniff — previene MIME-sniffing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11480" y="4736592"/>
            <a:ext cx="5376672" cy="658368"/>
          </a:xfrm>
          <a:prstGeom prst="roundRect">
            <a:avLst>
              <a:gd name="adj" fmla="val 11111"/>
            </a:avLst>
          </a:prstGeom>
          <a:solidFill>
            <a:srgbClr val="1A1000"/>
          </a:solidFill>
          <a:ln w="6350">
            <a:solidFill>
              <a:srgbClr val="EA580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" y="4764024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Referrer-Policy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30352" y="5020056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strict-origin-when-cross-origin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11480" y="5486400"/>
            <a:ext cx="5376672" cy="658368"/>
          </a:xfrm>
          <a:prstGeom prst="roundRect">
            <a:avLst>
              <a:gd name="adj" fmla="val 11111"/>
            </a:avLst>
          </a:prstGeom>
          <a:solidFill>
            <a:srgbClr val="1A1000"/>
          </a:solidFill>
          <a:ln w="6350">
            <a:solidFill>
              <a:srgbClr val="EA580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0352" y="5513832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Permissions-Policy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30352" y="5769864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Bloquea cámara, micrófono y geolocalización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80760" y="960120"/>
            <a:ext cx="5559552" cy="2651760"/>
          </a:xfrm>
          <a:prstGeom prst="roundRect">
            <a:avLst>
              <a:gd name="adj" fmla="val 4828"/>
            </a:avLst>
          </a:prstGeom>
          <a:solidFill>
            <a:srgbClr val="1A2E42"/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80760" y="960120"/>
            <a:ext cx="5559552" cy="658368"/>
          </a:xfrm>
          <a:prstGeom prst="roundRect">
            <a:avLst>
              <a:gd name="adj" fmla="val 19444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17920" y="960120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Firebase Security Rules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172200" y="1737360"/>
            <a:ext cx="5349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mensajes: create público con validación (nombre ≥2, mensaje ≥10 chars)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172200" y="2176272"/>
            <a:ext cx="5349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mensajes: read/update/delete solo admin autenticado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172200" y="2615184"/>
            <a:ext cx="5349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articulos/noticias/recursos: write solo admin · read público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172200" y="3054096"/>
            <a:ext cx="5349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Sin Firebase Storage (plan gratuito) — medios en public/media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080760" y="3822192"/>
            <a:ext cx="5559552" cy="2761488"/>
          </a:xfrm>
          <a:prstGeom prst="roundRect">
            <a:avLst>
              <a:gd name="adj" fmla="val 4636"/>
            </a:avLst>
          </a:prstGeom>
          <a:solidFill>
            <a:srgbClr val="1A2E42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80760" y="3822192"/>
            <a:ext cx="5559552" cy="658368"/>
          </a:xfrm>
          <a:prstGeom prst="roundRect">
            <a:avLst>
              <a:gd name="adj" fmla="val 19444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17920" y="382219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Optimizaciones de Rendimiento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172200" y="4599432"/>
            <a:ext cx="5349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Code splitting + React.lazy + Suspense (16 chunks)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172200" y="4983480"/>
            <a:ext cx="5349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Google Fonts: preload no bloqueante + display=optional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172200" y="5367528"/>
            <a:ext cx="5349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Skeleton CSS: background-position → transform translateX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5751576"/>
            <a:ext cx="5349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Cache-Control immutable en assets JS/CSS/fonts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172200" y="6135624"/>
            <a:ext cx="5349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Redirect 301 /biblioteca → / · sitemap.xml publicado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256032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109728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 construyendo SaludEC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47472" y="1005840"/>
            <a:ext cx="11228832" cy="1234440"/>
          </a:xfrm>
          <a:prstGeom prst="roundRect">
            <a:avLst>
              <a:gd name="adj" fmla="val 8889"/>
            </a:avLst>
          </a:prstGeom>
          <a:solidFill>
            <a:srgbClr val="1A2E42"/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161288"/>
            <a:ext cx="914400" cy="9144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161288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🏆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463040" y="1097280"/>
            <a:ext cx="9985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Conformidad WCAG 2.2 AA alcanzada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63040" y="1463040"/>
            <a:ext cx="998524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 DevTools 0 violaciones, Lighthouse 92/100, WAVE 0 errores, Pa11y 0 errores reales. De 33 criterios evaluados, 32 están implementados. La accesibilidad se construyó desde el día 1, no como un añadido final.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7472" y="2377440"/>
            <a:ext cx="11228832" cy="1234440"/>
          </a:xfrm>
          <a:prstGeom prst="roundRect">
            <a:avLst>
              <a:gd name="adj" fmla="val 8889"/>
            </a:avLst>
          </a:prstGeom>
          <a:solidFill>
            <a:srgbClr val="1A2E42"/>
          </a:solidFill>
          <a:ln w="19050">
            <a:solidFill>
              <a:srgbClr val="1565C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1480" y="2532888"/>
            <a:ext cx="914400" cy="91440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532888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🛠️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463040" y="2468880"/>
            <a:ext cx="9985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herramientas automáticas no son suficientes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63040" y="2834640"/>
            <a:ext cx="998524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 y Lighthouse detectan el 30–40% de los problemas. El bug de focus management en PageWrapper (WCAG 2.4.3) lo encontró la revisión manual, no ninguna herramienta. Pa11y reveló 7 issues de contraste que axe no marcó.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7472" y="3749040"/>
            <a:ext cx="11228832" cy="1234440"/>
          </a:xfrm>
          <a:prstGeom prst="roundRect">
            <a:avLst>
              <a:gd name="adj" fmla="val 8889"/>
            </a:avLst>
          </a:prstGeom>
          <a:solidFill>
            <a:srgbClr val="1A2E42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3904488"/>
            <a:ext cx="914400" cy="9144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3904488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🔄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463040" y="3840480"/>
            <a:ext cx="9985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XP + sprints cortos = calidad real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63040" y="4206240"/>
            <a:ext cx="998524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división en Historias de Usuario con criterios de aceptación WCAG permitió medir el progreso objetivamente. Sprint 2 cerró con 7 correcciones de contraste, vídeo accesible, focus management y declaración de accesibilidad.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47472" y="5120640"/>
            <a:ext cx="11228832" cy="1234440"/>
          </a:xfrm>
          <a:prstGeom prst="roundRect">
            <a:avLst>
              <a:gd name="adj" fmla="val 8889"/>
            </a:avLst>
          </a:prstGeom>
          <a:solidFill>
            <a:srgbClr val="1A2E42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1480" y="5276088"/>
            <a:ext cx="914400" cy="9144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" y="5276088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♿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463040" y="5212080"/>
            <a:ext cx="9985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Accesibilidad como equidad digital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463040" y="5577840"/>
            <a:ext cx="998524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solo técnica — es asegurar que un adulto mayor con baja visión, un usuario de teclado, o alguien en zona rural con conexión lenta pueda acceder a sus derechos de salud. Eso es lo que SaludEC resuelve.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32004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-914400"/>
            <a:ext cx="5486400" cy="5486400"/>
          </a:xfrm>
          <a:prstGeom prst="ellipse">
            <a:avLst/>
          </a:prstGeom>
          <a:solidFill>
            <a:srgbClr val="0891B2">
              <a:alpha val="18000"/>
            </a:srgbClr>
          </a:solidFill>
          <a:ln w="12700">
            <a:solidFill>
              <a:srgbClr val="0891B2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-457200"/>
            <a:ext cx="4572000" cy="4572000"/>
          </a:xfrm>
          <a:prstGeom prst="ellipse">
            <a:avLst/>
          </a:prstGeom>
          <a:solidFill>
            <a:srgbClr val="00B4D8">
              <a:alpha val="15000"/>
            </a:srgbClr>
          </a:solidFill>
          <a:ln w="12700">
            <a:solidFill>
              <a:srgbClr val="00B4D8">
                <a:alpha val="1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274320"/>
            <a:ext cx="12192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🏥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0" y="1508760"/>
            <a:ext cx="12192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SaludEC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0" y="2423160"/>
            <a:ext cx="1219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de Servicios Públicos de Salud del Ecuador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0" y="3200400"/>
            <a:ext cx="12192000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0" y="3383280"/>
            <a:ext cx="12192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vitaprevent-b2e34.web.app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0" y="3858768"/>
            <a:ext cx="12192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 github.com/zeuspyEC/SaludEC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828800" y="4572000"/>
            <a:ext cx="2743200" cy="1508760"/>
          </a:xfrm>
          <a:prstGeom prst="roundRect">
            <a:avLst>
              <a:gd name="adj" fmla="val 7273"/>
            </a:avLst>
          </a:prstGeom>
          <a:solidFill>
            <a:srgbClr val="1A2E4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20240" y="46634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Erick Costa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920240" y="501091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Coordinador · WCAG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920240" y="528523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zeuspyEC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828800" y="5989320"/>
            <a:ext cx="27432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0" y="4572000"/>
            <a:ext cx="2743200" cy="1508760"/>
          </a:xfrm>
          <a:prstGeom prst="roundRect">
            <a:avLst>
              <a:gd name="adj" fmla="val 7273"/>
            </a:avLst>
          </a:prstGeom>
          <a:solidFill>
            <a:srgbClr val="1A2E42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20640" y="46634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Jonathan Tipán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120640" y="501091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Diseñador · Frontend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120640" y="528523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michaelTipan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029200" y="5989320"/>
            <a:ext cx="27432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0" y="4572000"/>
            <a:ext cx="2743200" cy="1508760"/>
          </a:xfrm>
          <a:prstGeom prst="roundRect">
            <a:avLst>
              <a:gd name="adj" fmla="val 7273"/>
            </a:avLst>
          </a:prstGeom>
          <a:solidFill>
            <a:srgbClr val="1A2E42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21040" y="46634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Javier Quilumba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321040" y="501091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· Informe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21040" y="528523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Javier Q.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229600" y="5989320"/>
            <a:ext cx="274320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0" y="6236208"/>
            <a:ext cx="1219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Escuela Politécnica Nacional · Usabilidad y Accesibilidad ISWD732 · GR3SW ·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SaludEC — Portal de Servicios Públicos de Salud del Ecuador</dc:title>
  <dc:subject>Usabilidad y Accesibilidad ISWD732 — EPN 2026</dc:subject>
  <dc:creator>Erick Costa, Jonathan Tipán, Javier Quilumba</dc:creator>
  <cp:lastModifiedBy>Erick Costa, Jonathan Tipán, Javier Quilumba</cp:lastModifiedBy>
  <cp:revision>1</cp:revision>
  <dcterms:created xsi:type="dcterms:W3CDTF">2026-07-13T19:52:10Z</dcterms:created>
  <dcterms:modified xsi:type="dcterms:W3CDTF">2026-07-13T19:52:10Z</dcterms:modified>
</cp:coreProperties>
</file>